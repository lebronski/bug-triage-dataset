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ча и процесс" id="{6af6f9cd-7908-d917-4ba9-0dc18e51cba2}">
          <p14:sldIdLst>
            <p14:sldId id="256"/>
            <p14:sldId id="257"/>
            <p14:sldId id="258"/>
          </p14:sldIdLst>
        </p14:section>
        <p14:section name="Состав схемы" id="{34fc87e5-0106-56ce-ed06-bcf2d10fb947}">
          <p14:sldIdLst>
            <p14:sldId id="259"/>
            <p14:sldId id="260"/>
            <p14:sldId id="261"/>
          </p14:sldIdLst>
        </p14:section>
        <p14:section name="Уровни и форматы" id="{90ea16d2-a446-5ba7-5def-896b051f3e02}">
          <p14:sldIdLst>
            <p14:sldId id="262"/>
            <p14:sldId id="263"/>
            <p14:sldId id="264"/>
          </p14:sldIdLst>
        </p14:section>
        <p14:section name="Верификация и итог" id="{6689bd82-7dd7-8cd0-ec95-faa6f3292292}">
          <p14:sldIdLst>
            <p14:sldId id="265"/>
            <p14:sldId id="266"/>
          </p14:sldIdLst>
        </p14:section>
        <p14:section name="ЛР3 · Разметка текста" id="{7d3c1e2a-5b4f-4c8e-9a61-3f2b8c0d9e17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chemeClr val="tx1"/>
                </a:solidFill>
              </a:rPr>
              <a:t>Объём документа, символов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Объём документа, символов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Sheet1!$A$2:$A$11</c:f>
              <c:strCache>
                <c:ptCount val="10"/>
                <c:pt idx="0">
                  <c:v>crash</c:v>
                </c:pt>
                <c:pt idx="1">
                  <c:v>ui_layout</c:v>
                </c:pt>
                <c:pt idx="2">
                  <c:v>authentication</c:v>
                </c:pt>
                <c:pt idx="3">
                  <c:v>payment</c:v>
                </c:pt>
                <c:pt idx="4">
                  <c:v>database</c:v>
                </c:pt>
                <c:pt idx="5">
                  <c:v>network</c:v>
                </c:pt>
                <c:pt idx="6">
                  <c:v>performance</c:v>
                </c:pt>
                <c:pt idx="7">
                  <c:v>memory</c:v>
                </c:pt>
                <c:pt idx="8">
                  <c:v>localization</c:v>
                </c:pt>
                <c:pt idx="9">
                  <c:v>security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2414</c:v>
                </c:pt>
                <c:pt idx="1">
                  <c:v>2216</c:v>
                </c:pt>
                <c:pt idx="2">
                  <c:v>2177</c:v>
                </c:pt>
                <c:pt idx="3">
                  <c:v>2221</c:v>
                </c:pt>
                <c:pt idx="4">
                  <c:v>2299</c:v>
                </c:pt>
                <c:pt idx="5">
                  <c:v>2048</c:v>
                </c:pt>
                <c:pt idx="6">
                  <c:v>2185</c:v>
                </c:pt>
                <c:pt idx="7">
                  <c:v>1956</c:v>
                </c:pt>
                <c:pt idx="8">
                  <c:v>2280</c:v>
                </c:pt>
                <c:pt idx="9">
                  <c:v>2170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100">
                  <a:solidFill>
                    <a:schemeClr val="tx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chemeClr val="accent3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9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chemeClr val="tx1"/>
                </a:solidFill>
              </a:rPr>
              <a:t>F1 автоматической предразметки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автоматической предразметки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Sheet1!$A$2:$A$11</c:f>
              <c:strCache>
                <c:ptCount val="10"/>
                <c:pt idx="0">
                  <c:v>ERROR_CODE</c:v>
                </c:pt>
                <c:pt idx="1">
                  <c:v>METRIC</c:v>
                </c:pt>
                <c:pt idx="2">
                  <c:v>PRODUCT</c:v>
                </c:pt>
                <c:pt idx="3">
                  <c:v>ENV</c:v>
                </c:pt>
                <c:pt idx="4">
                  <c:v>TECHNOLOGY</c:v>
                </c:pt>
                <c:pt idx="5">
                  <c:v>SYMPTOM</c:v>
                </c:pt>
                <c:pt idx="6">
                  <c:v>CODE_LOCATION</c:v>
                </c:pt>
                <c:pt idx="7">
                  <c:v>UI_ELEMENT</c:v>
                </c:pt>
                <c:pt idx="8">
                  <c:v>ERROR_MESSAGE</c:v>
                </c:pt>
                <c:pt idx="9">
                  <c:v>FEATURE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1.0</c:v>
                </c:pt>
                <c:pt idx="1">
                  <c:v>1.0</c:v>
                </c:pt>
                <c:pt idx="2">
                  <c:v>0.97</c:v>
                </c:pt>
                <c:pt idx="3">
                  <c:v>0.96</c:v>
                </c:pt>
                <c:pt idx="4">
                  <c:v>0.95</c:v>
                </c:pt>
                <c:pt idx="5">
                  <c:v>0.89</c:v>
                </c:pt>
                <c:pt idx="6">
                  <c:v>0.83</c:v>
                </c:pt>
                <c:pt idx="7">
                  <c:v>0.76</c:v>
                </c:pt>
                <c:pt idx="8">
                  <c:v>0.67</c:v>
                </c:pt>
                <c:pt idx="9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chemeClr val="tx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chemeClr val="accent3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chemeClr val="tx1"/>
                </a:solidFill>
              </a:rPr>
              <a:t>F1 автоматической предразметки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предразметки областей (IoU ≥ 0,5)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Sheet1!$A$2:$A$8</c:f>
              <c:strCache>
                <c:ptCount val="7"/>
                <c:pt idx="0">
                  <c:v>PII</c:v>
                </c:pt>
                <c:pt idx="1">
                  <c:v>STATUS_INDICATOR</c:v>
                </c:pt>
                <c:pt idx="2">
                  <c:v>ERROR_TEXT</c:v>
                </c:pt>
                <c:pt idx="3">
                  <c:v>DEFECT_AREA</c:v>
                </c:pt>
                <c:pt idx="4">
                  <c:v>STACK_TRACE</c:v>
                </c:pt>
                <c:pt idx="5">
                  <c:v>UI_ELEMENT</c:v>
                </c:pt>
                <c:pt idx="6">
                  <c:v>CHART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</c:v>
                </c:pt>
                <c:pt idx="1">
                  <c:v>0.54</c:v>
                </c:pt>
                <c:pt idx="2">
                  <c:v>0.54</c:v>
                </c:pt>
                <c:pt idx="3">
                  <c:v>0.24</c:v>
                </c:pt>
                <c:pt idx="4">
                  <c:v>0.13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chemeClr val="tx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chemeClr val="accent3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— набор данных для системы, которая по входящему баг-репорту определяет категорию дефекта, компонент, критичность и команду. В ЛР1 собраны данные, в ЛР2 спроектирована схема их разметки.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источника — три модальности: текст (репорты и логи), изображения, аудио. Схема должна описывать их одним словарём меток.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Шаги соответствуют шагам 1–7 лабораторной. Дополнительно сделан эталонный набор, на котором проверены сама схема и скрипт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Семь групп объектов: классы обращения, структура, технические сущности, окружение, интерфейс, метрики, персональные данные. В таблице окружение, интерфейс и метрики объединены в столбец «Сущности».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Критичность — самый субъективный признак, поэтому критерии записаны явно, а порог согласованности для неё ниже: каппа 0,6 против 0,8 у категории. severity ставится только для ticket_type =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сущностей есть атрибуты: kind (подтип), normalized (каноническая запись), affected у окружения — чтобы различать затронутые и незатронутые платформы.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Уровень 1 нужен для классификатора уже сейчас, уровни 2–3 — для извлечения сущностей. Размечать можно по очереди, от общего к частному. Таблица построена по образцу таблицы 8.2.1 пособия.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Форматы из пособия: CoNLL-U для текста, COCO/CVAT для изображений, TextGrid для аудио. Для репортов основной формат — JSON со смещениями, совместимый с Label Studio, потому что в нём помещаются все три уровня; CoNLL-U генерируется из него.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Всего эталонов 10: 5 баг-репортов, 1 лог, 2 скриншота, 2 аудиозаписи. Каждый показывает трудный случай: ошибочную предразметку, смену компонента, низкую уверенность, нормализацию произнесённых сущностей.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метрики считает скрипт annotation_tools.py agree, проверку по схеме — annotation_tools.py validate. Скрипт проверен на намеренно испорченных аннотациях: нашёл все 11 внесённых ошибок.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обновлён: структура, описание схемы, форматы, верификация. Дальше — разметка всех данных по этой схеме в ЛР3 (текст), ЛР4 (аудио) и ЛР5 (изображения).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ЛР3 продолжает проект: данные собраны в ЛР1, схема спроектирована в ЛР2. Теперь текстовая модальность размечена на всех уровнях, а по результатам анализа обновлена схема.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Пособие требует тексты примерно одного объёма для каждого объекта. Короткие репорты объединены, список отклонённых кандидатов с причинами — в corpus.json.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Пособие рекомендует WebAnno или INCEpTION. Выбран INCEpTION 38.4: слои создаются из schema.json, документы загружаются в формате WebAnno TSV 3.3, выгрузка из INCEpTION совпадает с исходной (407 сущностей, 87 связей, 3915 тегов POS). DBpedia Spotlight из рабочей среды был недоступен, поэтому ссылки DBpedia проставлены по словарю ресурсов.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Уровни построены по образцу пособия (документ, параграф, части речи, токены, именованные сущности) и дополнены связями и атрибутами из схемы ЛР2.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 примеру пособия (птицы → соколы, ястребы) общие понятия разбиты на конкретные типы. Для 72% названий продуктов, технологий, ОС и языков проставлена ссылка на ресурс DBpedia (kb_uri).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Предразметка: F1 = 0,88 относительно итоговой разметки; точнее всего коды ошибок, метрики, ENV и PRODUCT, больше всего ручной работы на UI_ELEMENT, ERROR_MESSAGE и новых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зависимость между уровнями 2 и 4: признаки для классификатора лучше считать по разделам. Обратная сторона — структура зависит от трекера: шаблон Bugzilla даёт явные STEPS/ACTUAL/EXPECTED, Jira —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Обычный английский теггер обучен на новостях и плохо понимает повелительные шаги воспроизведения и идентификаторы кода. Правила записаны в схему (text_markup.rules), чтобы разметчики и скрипт работали одинаково.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Правки разметчика хранятся отдельно от предразметки (manual_edits.json), поэтому их можно пересмотреть и измерить качество каждого шага.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Шаг 6.2: изменения внесены в annotation_schema/schema.json (единый источник меток) и описаны в разделе 8 docs/annotation_schema.md. Ошибка со связью к ОС из User-Agent найдена при просмотре визуализации в INCEpTION.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Дальше: перекрёстная разметка 20% документов вторым разметчиком и та же схема для аудио (ЛР4) и изображений (ЛР5).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011680"/>
            <a:ext cx="10543032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ЛАБОРАТОРНАЯ РАБОТА №2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011680"/>
            <a:ext cx="10543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Аннотационная схема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для баг-репортов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23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Единые правила разметки текста, логов, скриншотов и голосовых обращений для системы автоматической сортировки дефектов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bug-triage-dataset · схема v1.0 → v1.1 (ЛР3, слайды 12–22) → v1.2 (ЛР5, слайды 23–31)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580644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Структурирование, разметка и обогащение данных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 И ДАННЫЕ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нужно разметить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92024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Система ИИ по входящему обращению определяет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категорию дефекта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компонент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 (Backend, Frontend, Auth-service, Billing, Database),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критичность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 и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команду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, а также извлекает исключение, место в коде и окружение. Данные собраны в ЛР1 по 10 категориям дефектов.</a:t>
            </a:r>
            <a:endParaRPr lang="en-US" sz="1700" dirty="0"/>
          </a:p>
        </p:txBody>
      </p:sp>
      <p:sp>
        <p:nvSpPr>
          <p:cNvPr id="6" name="stat-100"/>
          <p:cNvSpPr/>
          <p:nvPr/>
        </p:nvSpPr>
        <p:spPr>
          <a:xfrm>
            <a:off x="822960" y="3291840"/>
            <a:ext cx="246430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520440"/>
            <a:ext cx="19156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100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4434840"/>
            <a:ext cx="191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баг-репортов из Jira, Bugzilla, GitHub</a:t>
            </a:r>
            <a:endParaRPr lang="en-US" sz="1500" dirty="0"/>
          </a:p>
        </p:txBody>
      </p:sp>
      <p:sp>
        <p:nvSpPr>
          <p:cNvPr id="9" name="stat-12"/>
          <p:cNvSpPr/>
          <p:nvPr/>
        </p:nvSpPr>
        <p:spPr>
          <a:xfrm>
            <a:off x="3515868" y="3291840"/>
            <a:ext cx="246430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0188" y="3520440"/>
            <a:ext cx="19156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12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3790188" y="4434840"/>
            <a:ext cx="191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фрагментов системных логов LogHub</a:t>
            </a:r>
            <a:endParaRPr lang="en-US" sz="1500" dirty="0"/>
          </a:p>
        </p:txBody>
      </p:sp>
      <p:sp>
        <p:nvSpPr>
          <p:cNvPr id="12" name="stat-30"/>
          <p:cNvSpPr/>
          <p:nvPr/>
        </p:nvSpPr>
        <p:spPr>
          <a:xfrm>
            <a:off x="6208776" y="3291840"/>
            <a:ext cx="246430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83096" y="3520440"/>
            <a:ext cx="19156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30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6483096" y="4434840"/>
            <a:ext cx="191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скриншотов воспроизведённых дефектов</a:t>
            </a:r>
            <a:endParaRPr lang="en-US" sz="1500" dirty="0"/>
          </a:p>
        </p:txBody>
      </p:sp>
      <p:sp>
        <p:nvSpPr>
          <p:cNvPr id="15" name="stat-20"/>
          <p:cNvSpPr/>
          <p:nvPr/>
        </p:nvSpPr>
        <p:spPr>
          <a:xfrm>
            <a:off x="8901684" y="3291840"/>
            <a:ext cx="246430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76004" y="3520440"/>
            <a:ext cx="19156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20</a:t>
            </a:r>
            <a:endParaRPr lang="en-US" sz="4800" dirty="0"/>
          </a:p>
        </p:txBody>
      </p:sp>
      <p:sp>
        <p:nvSpPr>
          <p:cNvPr id="17" name="Text 14"/>
          <p:cNvSpPr txBox="1"/>
          <p:nvPr/>
        </p:nvSpPr>
        <p:spPr>
          <a:xfrm>
            <a:off x="9176004" y="4434840"/>
            <a:ext cx="191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голосовых обращений в поддержку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ПРОЦЕСС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проектировалась схема</a:t>
            </a:r>
            <a:endParaRPr lang="en-US" sz="3200" dirty="0"/>
          </a:p>
        </p:txBody>
      </p:sp>
      <p:sp>
        <p:nvSpPr>
          <p:cNvPr id="5" name="step-1"/>
          <p:cNvSpPr/>
          <p:nvPr/>
        </p:nvSpPr>
        <p:spPr>
          <a:xfrm>
            <a:off x="822960" y="196596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216712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53288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Состав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94436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модальности и семь групп объектов</a:t>
            </a:r>
            <a:endParaRPr lang="en-US" sz="1400" dirty="0"/>
          </a:p>
        </p:txBody>
      </p:sp>
      <p:sp>
        <p:nvSpPr>
          <p:cNvPr id="9" name="step-2"/>
          <p:cNvSpPr/>
          <p:nvPr/>
        </p:nvSpPr>
        <p:spPr>
          <a:xfrm>
            <a:off x="3515868" y="196596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4468" y="216712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44468" y="253288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Требования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744468" y="294436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какие сущности и атрибуты размечать</a:t>
            </a:r>
            <a:endParaRPr lang="en-US" sz="1400" dirty="0"/>
          </a:p>
        </p:txBody>
      </p:sp>
      <p:sp>
        <p:nvSpPr>
          <p:cNvPr id="13" name="step-3"/>
          <p:cNvSpPr/>
          <p:nvPr/>
        </p:nvSpPr>
        <p:spPr>
          <a:xfrm>
            <a:off x="6208776" y="196596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37376" y="216712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37376" y="253288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Правила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37376" y="294436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форматы, границы, длины, критерии</a:t>
            </a:r>
            <a:endParaRPr lang="en-US" sz="1400" dirty="0"/>
          </a:p>
        </p:txBody>
      </p:sp>
      <p:sp>
        <p:nvSpPr>
          <p:cNvPr id="17" name="step-4"/>
          <p:cNvSpPr/>
          <p:nvPr/>
        </p:nvSpPr>
        <p:spPr>
          <a:xfrm>
            <a:off x="8901684" y="196596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30284" y="216712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30284" y="253288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Уровни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130284" y="294436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три уровня детализации на модальность</a:t>
            </a:r>
            <a:endParaRPr lang="en-US" sz="1400" dirty="0"/>
          </a:p>
        </p:txBody>
      </p:sp>
      <p:sp>
        <p:nvSpPr>
          <p:cNvPr id="21" name="step-5"/>
          <p:cNvSpPr/>
          <p:nvPr/>
        </p:nvSpPr>
        <p:spPr>
          <a:xfrm>
            <a:off x="822960" y="397764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51560" y="417880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454456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Форматы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051560" y="495604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JSON, CoNLL-U, COCO, TextGrid</a:t>
            </a:r>
            <a:endParaRPr lang="en-US" sz="1400" dirty="0"/>
          </a:p>
        </p:txBody>
      </p:sp>
      <p:sp>
        <p:nvSpPr>
          <p:cNvPr id="25" name="step-6"/>
          <p:cNvSpPr/>
          <p:nvPr/>
        </p:nvSpPr>
        <p:spPr>
          <a:xfrm>
            <a:off x="3515868" y="397764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44468" y="417880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744468" y="454456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Верификация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744468" y="495604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метрики, пороги, перекрёстная разметка</a:t>
            </a:r>
            <a:endParaRPr lang="en-US" sz="1400" dirty="0"/>
          </a:p>
        </p:txBody>
      </p:sp>
      <p:sp>
        <p:nvSpPr>
          <p:cNvPr id="29" name="step-7"/>
          <p:cNvSpPr/>
          <p:nvPr/>
        </p:nvSpPr>
        <p:spPr>
          <a:xfrm>
            <a:off x="6208776" y="397764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37376" y="417880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37376" y="454456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Репозиторий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437376" y="495604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schema.json, annotations/, README</a:t>
            </a:r>
            <a:endParaRPr lang="en-US" sz="1400" dirty="0"/>
          </a:p>
        </p:txBody>
      </p:sp>
      <p:sp>
        <p:nvSpPr>
          <p:cNvPr id="33" name="step-8"/>
          <p:cNvSpPr/>
          <p:nvPr/>
        </p:nvSpPr>
        <p:spPr>
          <a:xfrm>
            <a:off x="8901684" y="397764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30284" y="417880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130284" y="454456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Эталоны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130284" y="495604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10 размеченных примеров, автопроверка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1 · СОСТАВ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Группы объектов по модальностям</a:t>
            </a:r>
            <a:endParaRPr lang="en-US" sz="3200" dirty="0"/>
          </a:p>
        </p:txBody>
      </p:sp>
      <p:graphicFrame>
        <p:nvGraphicFramePr>
          <p:cNvPr id="5" name="composi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514600"/>
                <a:gridCol w="2423160"/>
                <a:gridCol w="2788920"/>
                <a:gridCol w="1399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Модальность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Классы обращения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Структура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Баг-репорт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ticket_type, category, component, 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разделов; шаг, кадр стека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EXCEPTION, ERROR_MESSAGE, CODE_LOCATION, ERROR_CODE, ENV, UI_ELEMENT,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имена, логины,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строка = событие: level, event_type, is_anomaly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 же метки внутри строки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ip, host, username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Скриншот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component, screen_type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области: ERROR_TEXT, STACK_TRACE, STATUS_INDICATOR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DEFECT_AREA, UI_ELEMENT; сущности в тексте области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область PII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component, severity, urgency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сегменты GREETING … CLOSING + транскрипция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сущности в транскрипции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имя звонящего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52578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Один словарь меток на все модальности: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EXCEPTION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из трассировки, со скриншота и из звонка — одна и та же сущность с общим полем normalized.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2 · КЛАССЫ ОБРАЩЕНИЯ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Критичность — по явным критериям</a:t>
            </a:r>
            <a:endParaRPr lang="en-US" sz="3200" dirty="0"/>
          </a:p>
        </p:txBody>
      </p:sp>
      <p:graphicFrame>
        <p:nvGraphicFramePr>
          <p:cNvPr id="6" name="sever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0"/>
                <a:gridCol w="3410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 ставить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 из данных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ключевой сценарий недоступен без обхода; потеря данных или денег; эксплуатируемая уязвимость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двойное списание при оплате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падение сервиса или функции, ошибка 5xx, обход сложен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«сервер отчётов падает с ошибкой пятьсот»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функция работает неверно, но обход есть; деградация производительности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импорт платёжных данных не работает на macOS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косметика, перевод, вёрстка без блокировки, редкий случай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утечка памяти в редком сценарии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50749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Ещё три класса: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ticket_type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(bug, feature_request, question, not_a_bug),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category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(10 + other),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component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. Команда вычисляется из компонента. Компонент — по месту дефекта, а не по категории.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2 · СУЩНОСТИ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Восемь типов сущностей и три связи</a:t>
            </a:r>
            <a:endParaRPr lang="en-US" sz="3200" dirty="0"/>
          </a:p>
        </p:txBody>
      </p:sp>
      <p:sp>
        <p:nvSpPr>
          <p:cNvPr id="5" name="entity-EXCEPTION"/>
          <p:cNvSpPr/>
          <p:nvPr/>
        </p:nvSpPr>
        <p:spPr>
          <a:xfrm>
            <a:off x="822960" y="187452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24128" y="203911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237744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тип исключения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276148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NullPointerException</a:t>
            </a:r>
            <a:endParaRPr lang="en-US" sz="1300" dirty="0"/>
          </a:p>
        </p:txBody>
      </p:sp>
      <p:sp>
        <p:nvSpPr>
          <p:cNvPr id="9" name="entity-ERROR_MESSAGE"/>
          <p:cNvSpPr/>
          <p:nvPr/>
        </p:nvSpPr>
        <p:spPr>
          <a:xfrm>
            <a:off x="3504438" y="187452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05606" y="203911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ERROR_MESSAGE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05606" y="237744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текст ошибки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705606" y="276148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is locked</a:t>
            </a:r>
            <a:endParaRPr lang="en-US" sz="1300" dirty="0"/>
          </a:p>
        </p:txBody>
      </p:sp>
      <p:sp>
        <p:nvSpPr>
          <p:cNvPr id="13" name="entity-CODE_LOCATION"/>
          <p:cNvSpPr/>
          <p:nvPr/>
        </p:nvSpPr>
        <p:spPr>
          <a:xfrm>
            <a:off x="6185916" y="187452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87084" y="203911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CODE_LOCATION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87084" y="237744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класс, метод, файл, кадр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387084" y="276148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JdbcUtils.scala:452</a:t>
            </a:r>
            <a:endParaRPr lang="en-US" sz="1300" dirty="0"/>
          </a:p>
        </p:txBody>
      </p:sp>
      <p:sp>
        <p:nvSpPr>
          <p:cNvPr id="17" name="entity-ERROR_CODE"/>
          <p:cNvSpPr/>
          <p:nvPr/>
        </p:nvSpPr>
        <p:spPr>
          <a:xfrm>
            <a:off x="8867394" y="187452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68562" y="203911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ERROR_CODE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068562" y="237744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HTTP, сеть, CVE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68562" y="276148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· ERR_CERT_*</a:t>
            </a:r>
            <a:endParaRPr lang="en-US" sz="1300" dirty="0"/>
          </a:p>
        </p:txBody>
      </p:sp>
      <p:sp>
        <p:nvSpPr>
          <p:cNvPr id="21" name="entity-ENV"/>
          <p:cNvSpPr/>
          <p:nvPr/>
        </p:nvSpPr>
        <p:spPr>
          <a:xfrm>
            <a:off x="822960" y="338328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4128" y="354787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388620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ОС, браузер, версия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24128" y="427024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12 · yes</a:t>
            </a:r>
            <a:endParaRPr lang="en-US" sz="1300" dirty="0"/>
          </a:p>
        </p:txBody>
      </p:sp>
      <p:sp>
        <p:nvSpPr>
          <p:cNvPr id="25" name="entity-UI_ELEMENT"/>
          <p:cNvSpPr/>
          <p:nvPr/>
        </p:nvSpPr>
        <p:spPr>
          <a:xfrm>
            <a:off x="3504438" y="338328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05606" y="354787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UI_ELEMENT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705606" y="388620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кнопка, поле, диалог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705606" y="427024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"Archive" button</a:t>
            </a:r>
            <a:endParaRPr lang="en-US" sz="1300" dirty="0"/>
          </a:p>
        </p:txBody>
      </p:sp>
      <p:sp>
        <p:nvSpPr>
          <p:cNvPr id="29" name="entity-METRIC"/>
          <p:cNvSpPr/>
          <p:nvPr/>
        </p:nvSpPr>
        <p:spPr>
          <a:xfrm>
            <a:off x="6185916" y="338328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87084" y="354787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387084" y="388620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время, память, количество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387084" y="427024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MB · 8 s</a:t>
            </a:r>
            <a:endParaRPr lang="en-US" sz="1300" dirty="0"/>
          </a:p>
        </p:txBody>
      </p:sp>
      <p:sp>
        <p:nvSpPr>
          <p:cNvPr id="33" name="entity-PII"/>
          <p:cNvSpPr/>
          <p:nvPr/>
        </p:nvSpPr>
        <p:spPr>
          <a:xfrm>
            <a:off x="8867394" y="338328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068562" y="354787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068562" y="388620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 маскированию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9068562" y="427024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173.234.31.186</a:t>
            </a:r>
            <a:endParaRPr lang="en-US" sz="1300" dirty="0"/>
          </a:p>
        </p:txBody>
      </p:sp>
      <p:sp>
        <p:nvSpPr>
          <p:cNvPr id="37" name="relation-HAS_MESSAGE"/>
          <p:cNvSpPr/>
          <p:nvPr/>
        </p:nvSpPr>
        <p:spPr>
          <a:xfrm>
            <a:off x="822960" y="4983480"/>
            <a:ext cx="339242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51560" y="498348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HAS_MESSAGE 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исключение → текст</a:t>
            </a:r>
            <a:endParaRPr lang="en-US" sz="1500" dirty="0"/>
          </a:p>
        </p:txBody>
      </p:sp>
      <p:sp>
        <p:nvSpPr>
          <p:cNvPr id="39" name="relation-THROWN_AT"/>
          <p:cNvSpPr/>
          <p:nvPr/>
        </p:nvSpPr>
        <p:spPr>
          <a:xfrm>
            <a:off x="4398264" y="4983480"/>
            <a:ext cx="339242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626864" y="498348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THROWN_AT 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исключение → место</a:t>
            </a:r>
            <a:endParaRPr lang="en-US" sz="1500" dirty="0"/>
          </a:p>
        </p:txBody>
      </p:sp>
      <p:sp>
        <p:nvSpPr>
          <p:cNvPr id="41" name="relation-OBSERVED_IN"/>
          <p:cNvSpPr/>
          <p:nvPr/>
        </p:nvSpPr>
        <p:spPr>
          <a:xfrm>
            <a:off x="7973568" y="4983480"/>
            <a:ext cx="339242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02168" y="498348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OBSERVED_IN 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проблема → среда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4 · УРОВНИ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Три уровня детализации</a:t>
            </a:r>
            <a:endParaRPr lang="en-US" sz="3200" dirty="0"/>
          </a:p>
        </p:txBody>
      </p:sp>
      <p:graphicFrame>
        <p:nvGraphicFramePr>
          <p:cNvPr id="8" name="level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24912"/>
                <a:gridCol w="2724912"/>
                <a:gridCol w="27157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Модальность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Структура документа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тикет: классы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шаг, кадр стека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атрибуты сущности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связи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файл лога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событие (строка)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сущности в строке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Изображения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 экрана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область (bbox)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 и сущности области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Аудио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классы записи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 речи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сущность в транскрипции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51663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crash_02.wav: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crash · Critical → сегмент ERROR_DETAILS 8,04–12,08 с → «нулл пойнтер эксепшн» = NullPointerException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ШАГИ 3, 5 · ФОРМАТЫ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Формат для каждой модальности</a:t>
            </a:r>
            <a:endParaRPr lang="en-US" sz="3200" dirty="0"/>
          </a:p>
        </p:txBody>
      </p:sp>
      <p:graphicFrame>
        <p:nvGraphicFramePr>
          <p:cNvPr id="9" name="forma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5513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Модальность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Координаты и правила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Баг-репорт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+ CoNLL-U (BIO)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смещения символов; разделы покрывают весь текст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Lines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одна запись на строку лога, смещения в строке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Скриншот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JSON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bbox [x, y, w, h] в px, допуск 5 px, сторона ≥ 8 px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Аудио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Praat TextGrid + JSON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секунды; интервалы встык; сегмент ≥ 0,3 с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" name="schema-card"/>
          <p:cNvSpPr/>
          <p:nvPr/>
        </p:nvSpPr>
        <p:spPr>
          <a:xfrm>
            <a:off x="822960" y="4572000"/>
            <a:ext cx="1054303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43000" y="4572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schema.json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3291840" y="4572000"/>
            <a:ext cx="7799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единственный источник меток: из него генерируются 4 конфигурации Label Studio и задачи с предразметкой, по нему проверяется каждая аннотация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ПРИМЕР · ЭТАЛОННАЯ РАЗМЕТКА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Скриншоты: области и текст в них</a:t>
            </a:r>
            <a:endParaRPr lang="en-US" sz="3200" dirty="0"/>
          </a:p>
        </p:txBody>
      </p:sp>
      <p:sp>
        <p:nvSpPr>
          <p:cNvPr id="5" name="frame-database_01"/>
          <p:cNvSpPr/>
          <p:nvPr/>
        </p:nvSpPr>
        <p:spPr>
          <a:xfrm>
            <a:off x="813816" y="1865376"/>
            <a:ext cx="5152644" cy="32272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6" name="img-database_01" descr="Скриншот ошибки 500 с размеченными областям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5134356" cy="32089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5220653"/>
            <a:ext cx="51343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database_01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· error_page: ERROR_TEXT → EXCEPTION sqlite3.OperationalError, STATUS_INDICATOR → ERROR_CODE 500</a:t>
            </a:r>
            <a:endParaRPr lang="en-US" sz="1400" dirty="0"/>
          </a:p>
        </p:txBody>
      </p:sp>
      <p:sp>
        <p:nvSpPr>
          <p:cNvPr id="8" name="frame-payment_03"/>
          <p:cNvSpPr/>
          <p:nvPr/>
        </p:nvSpPr>
        <p:spPr>
          <a:xfrm>
            <a:off x="6222492" y="1865376"/>
            <a:ext cx="5152644" cy="32272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9" name="img-payment_03" descr="Скриншот двойного списания с размеченными областям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874520"/>
            <a:ext cx="5134356" cy="32089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31636" y="5220653"/>
            <a:ext cx="51343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payment_03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· ui_screen: DEFECT_AREA (duplicate), UI_ELEMENT кнопка, PII карта •••• 4242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6 · ВЕРИФИКАЦИЯ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Качество — в числах и порогах</a:t>
            </a:r>
            <a:endParaRPr lang="en-US" sz="3200" dirty="0"/>
          </a:p>
        </p:txBody>
      </p:sp>
      <p:sp>
        <p:nvSpPr>
          <p:cNvPr id="5" name="metric-1"/>
          <p:cNvSpPr/>
          <p:nvPr/>
        </p:nvSpPr>
        <p:spPr>
          <a:xfrm>
            <a:off x="822960" y="1874520"/>
            <a:ext cx="246430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2011680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κ ≥ 0,8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606040"/>
            <a:ext cx="200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каппа Коэна для категории; 0,6 для критичности</a:t>
            </a:r>
            <a:endParaRPr lang="en-US" sz="1300" dirty="0"/>
          </a:p>
        </p:txBody>
      </p:sp>
      <p:sp>
        <p:nvSpPr>
          <p:cNvPr id="8" name="metric-2"/>
          <p:cNvSpPr/>
          <p:nvPr/>
        </p:nvSpPr>
        <p:spPr>
          <a:xfrm>
            <a:off x="3515868" y="1874520"/>
            <a:ext cx="246430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4468" y="2011680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F1 ≥ 0,8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744468" y="2606040"/>
            <a:ext cx="200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сущности: точное совпадение метки и границ</a:t>
            </a:r>
            <a:endParaRPr lang="en-US" sz="1300" dirty="0"/>
          </a:p>
        </p:txBody>
      </p:sp>
      <p:sp>
        <p:nvSpPr>
          <p:cNvPr id="11" name="metric-3"/>
          <p:cNvSpPr/>
          <p:nvPr/>
        </p:nvSpPr>
        <p:spPr>
          <a:xfrm>
            <a:off x="6208776" y="1874520"/>
            <a:ext cx="246430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37376" y="2011680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IoU ≥ 0,7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437376" y="2606040"/>
            <a:ext cx="200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рамки на изображениях; F1 областей ≥ 0,85</a:t>
            </a:r>
            <a:endParaRPr lang="en-US" sz="1300" dirty="0"/>
          </a:p>
        </p:txBody>
      </p:sp>
      <p:sp>
        <p:nvSpPr>
          <p:cNvPr id="14" name="metric-4"/>
          <p:cNvSpPr/>
          <p:nvPr/>
        </p:nvSpPr>
        <p:spPr>
          <a:xfrm>
            <a:off x="8901684" y="1874520"/>
            <a:ext cx="246430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30284" y="2011680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WER ≤ 10 %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130284" y="2606040"/>
            <a:ext cx="200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расшифровка против эталона; границы ±0,1 с</a:t>
            </a:r>
            <a:endParaRPr lang="en-US" sz="1300" dirty="0"/>
          </a:p>
        </p:txBody>
      </p:sp>
      <p:graphicFrame>
        <p:nvGraphicFramePr>
          <p:cNvPr id="11" name="verific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520440"/>
          <a:ext cx="1054303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525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инструкция + эталоны; допуск при F1 ≥ 0,8 на эталонах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Перекрёстная разметка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 данных и все confidence=low — два разметчика, арбитр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 ошибок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при каждом изменении; вручную каждый 5-й файл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Итерации и журнал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пилот → уточнение правил → новая версия схемы; VERIFICATION.md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7 · ИТОГ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Схема готова к разметке в ЛР 3–5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122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сущности в эталонах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ошибок проверки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4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конфигурации Label Studio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703320"/>
            <a:ext cx="105430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annotation_schema/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schema.json, label_studio/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annotations/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text/, images/, audio/, VERIFICATION.md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annotation_schema.md, annotation_validation_report.md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annotation_tools.py — configs · tasks · validate · conllu · agree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ЛАБОРАТОРНАЯ РАБОТА №3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Разметка текстовых данных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22960" y="201168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chemeClr val="accent4"/>
                </a:solidFill>
              </a:rPr>
              <a:t>Многоуровневая разметка текстовых описаний 10 объектов в INCEpTION: документ → абзац → токен и часть речи → сущности со ссылками на DBpedia → связи. Анализ разметки и обновление схемы до версии 1.1</a:t>
            </a:r>
          </a:p>
        </p:txBody>
      </p:sp>
      <p:sp>
        <p:nvSpPr>
          <p:cNvPr id="27" name="stat-0"/>
          <p:cNvSpPr txBox="1"/>
          <p:nvPr/>
        </p:nvSpPr>
        <p:spPr>
          <a:xfrm>
            <a:off x="822960" y="3566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документов — по одному на объект</a:t>
            </a:r>
          </a:p>
        </p:txBody>
      </p:sp>
      <p:sp>
        <p:nvSpPr>
          <p:cNvPr id="29" name="stat-1"/>
          <p:cNvSpPr txBox="1"/>
          <p:nvPr/>
        </p:nvSpPr>
        <p:spPr>
          <a:xfrm>
            <a:off x="3474720" y="3566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3 915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токенов с частями речи</a:t>
            </a:r>
          </a:p>
        </p:txBody>
      </p:sp>
      <p:sp>
        <p:nvSpPr>
          <p:cNvPr id="31" name="stat-2"/>
          <p:cNvSpPr txBox="1"/>
          <p:nvPr/>
        </p:nvSpPr>
        <p:spPr>
          <a:xfrm>
            <a:off x="6126480" y="3566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407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сущностей</a:t>
            </a:r>
          </a:p>
        </p:txBody>
      </p:sp>
      <p:sp>
        <p:nvSpPr>
          <p:cNvPr id="33" name="stat-3"/>
          <p:cNvSpPr txBox="1"/>
          <p:nvPr/>
        </p:nvSpPr>
        <p:spPr>
          <a:xfrm>
            <a:off x="8778239" y="3566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39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связей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  <a:latin typeface="Courier New"/>
              </a:rPr>
              <a:t>Шаги 1–8 ЛР3 · bug-triage-dataset · схема v1.1 · INCEpTION 38.4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1 · ПОДГОТОВКА ДАННЫХ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Один документ на каждый объект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22960" y="169164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Документ объекта = 2–4 баг-репорта его категории. </a:t>
            </a:r>
            <a:r>
              <a:rPr sz="1500" b="0">
                <a:solidFill>
                  <a:schemeClr val="tx2"/>
                </a:solidFill>
              </a:rPr>
              <a:t>Объём 0,5–1 страница (1956–2414 символов, max/min = 1,23), как требует шаг 1.3.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Каждый репорт прочитан вручную. </a:t>
            </a:r>
            <a:r>
              <a:rPr sz="1500" b="0">
                <a:solidFill>
                  <a:schemeClr val="tx2"/>
                </a:solidFill>
              </a:rPr>
              <a:t>Из 36 кандидатов у 7 категория по ключевым словам заголовка была ошибочной или спорной. Например, «Network Settings panel» дал network для дефекта вёрстки — репорт перенесён в ui_layout.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Объекты совпадают с другими модальностями: </a:t>
            </a:r>
            <a:r>
              <a:rPr sz="1500" b="0">
                <a:solidFill>
                  <a:schemeClr val="tx2"/>
                </a:solidFill>
              </a:rPr>
              <a:t>те же 10 категорий, что у скриншотов и аудио.</a:t>
            </a:r>
          </a:p>
        </p:txBody>
      </p:sp>
      <p:graphicFrame>
        <p:nvGraphicFramePr>
          <p:cNvPr id="27" name="chart-doc-size"/>
          <p:cNvGraphicFramePr>
            <a:graphicFrameLocks noGrp="1"/>
          </p:cNvGraphicFramePr>
          <p:nvPr/>
        </p:nvGraphicFramePr>
        <p:xfrm>
          <a:off x="6035040" y="1600200"/>
          <a:ext cx="53035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ШАГИ 2–5 · ПРОЦЕСС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Полуавтоматическая разметка в INCEpTION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step-01"/>
          <p:cNvSpPr/>
          <p:nvPr/>
        </p:nvSpPr>
        <p:spPr>
          <a:xfrm>
            <a:off x="822960" y="178308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331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Отбор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corpus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10 документов</a:t>
            </a:r>
          </a:p>
        </p:txBody>
      </p:sp>
      <p:sp>
        <p:nvSpPr>
          <p:cNvPr id="31" name="step-02"/>
          <p:cNvSpPr/>
          <p:nvPr/>
        </p:nvSpPr>
        <p:spPr>
          <a:xfrm>
            <a:off x="4389120" y="178308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2331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Предразметка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auto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0175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NLTK: токены, POS, леммы; правила и словарь DBpedia</a:t>
            </a:r>
          </a:p>
        </p:txBody>
      </p:sp>
      <p:sp>
        <p:nvSpPr>
          <p:cNvPr id="36" name="step-03"/>
          <p:cNvSpPr/>
          <p:nvPr/>
        </p:nvSpPr>
        <p:spPr>
          <a:xfrm>
            <a:off x="7955280" y="178308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331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Ручная правка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manual_edits.json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0175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249 правок разметчика</a:t>
            </a:r>
          </a:p>
        </p:txBody>
      </p:sp>
      <p:sp>
        <p:nvSpPr>
          <p:cNvPr id="41" name="step-04"/>
          <p:cNvSpPr/>
          <p:nvPr/>
        </p:nvSpPr>
        <p:spPr>
          <a:xfrm>
            <a:off x="822960" y="388620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4114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2"/>
                </a:solidFill>
                <a:latin typeface="Courier New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434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lt2"/>
                </a:solidFill>
              </a:rPr>
              <a:t>INCEpTION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4846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2"/>
                </a:solidFill>
                <a:latin typeface="Courier New"/>
              </a:rPr>
              <a:t>inception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1206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accent4"/>
                </a:solidFill>
              </a:rPr>
              <a:t>проект и слои из схемы, загрузка через Remote API</a:t>
            </a:r>
          </a:p>
        </p:txBody>
      </p:sp>
      <p:sp>
        <p:nvSpPr>
          <p:cNvPr id="46" name="step-05"/>
          <p:cNvSpPr/>
          <p:nvPr/>
        </p:nvSpPr>
        <p:spPr>
          <a:xfrm>
            <a:off x="4389120" y="388620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4114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4434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Сверка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4846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roundtrip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51206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выгрузка = исходная разметка</a:t>
            </a:r>
          </a:p>
        </p:txBody>
      </p:sp>
      <p:sp>
        <p:nvSpPr>
          <p:cNvPr id="51" name="step-06"/>
          <p:cNvSpPr/>
          <p:nvPr/>
        </p:nvSpPr>
        <p:spPr>
          <a:xfrm>
            <a:off x="7955280" y="388620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0" y="4114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Анализ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846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analyze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1206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зависимости уровней, схема 1.1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94360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  <a:latin typeface="Courier New"/>
              </a:rPr>
              <a:t>python scripts/text_markup.py &lt;команда&gt; — весь конвейер воспроизводится из репозитория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3 · НАБОРЫ ТЕГОВ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Пять уровней разметки текста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1691640"/>
          <a:ext cx="10543030" cy="2304288"/>
        </p:xfrm>
        <a:graphic>
          <a:graphicData uri="http://schemas.openxmlformats.org/drawingml/2006/table">
            <a:tbl>
              <a:tblPr/>
              <a:tblGrid>
                <a:gridCol w="1721311"/>
                <a:gridCol w="3119876"/>
                <a:gridCol w="4518442"/>
                <a:gridCol w="1183401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Уровень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Что размечается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Теги / слой INCEpTION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Объём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1. Документ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документ объекта, баг-репорты и их классы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BugReport: ticket_type, category, component, severity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10 / 27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2. Абзац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абзац и тип раздела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Section: TITLE, STEPS, ACTUAL, EXPECTED, ENVIRONMENT…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191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3. Токены, части речи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предложения, токены, леммы, части речи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POS: UPOS (UD v2) + XPOS (Penn); Lemma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371 / 3 915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4. Сущности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именованные сущности с атрибутами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BugEntity: 14 типов, kind, normalized, kb_uri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407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5. Связи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связи между сущностями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EntityRelation: 6 типов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87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7" name="example"/>
          <p:cNvSpPr/>
          <p:nvPr/>
        </p:nvSpPr>
        <p:spPr>
          <a:xfrm>
            <a:off x="822960" y="4343400"/>
            <a:ext cx="10543032" cy="150876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5262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chemeClr val="accent1"/>
                </a:solidFill>
                <a:latin typeface="Courier New"/>
              </a:rPr>
              <a:t>crash / hadoop-13544320 · TITLE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chemeClr val="tx1"/>
                </a:solidFill>
              </a:rPr>
              <a:t>LdapGroupsMapping</a:t>
            </a:r>
            <a:r>
              <a:rPr sz="1200" b="0">
                <a:solidFill>
                  <a:schemeClr val="tx2"/>
                </a:solidFill>
              </a:rPr>
              <a:t>/PROPN </a:t>
            </a:r>
            <a:r>
              <a:rPr sz="1500" b="1">
                <a:solidFill>
                  <a:schemeClr val="tx1"/>
                </a:solidFill>
              </a:rPr>
              <a:t>crashes</a:t>
            </a:r>
            <a:r>
              <a:rPr sz="1200" b="0">
                <a:solidFill>
                  <a:schemeClr val="tx2"/>
                </a:solidFill>
              </a:rPr>
              <a:t>/VERB with/ADP </a:t>
            </a:r>
            <a:r>
              <a:rPr sz="1500" b="1">
                <a:solidFill>
                  <a:schemeClr val="tx1"/>
                </a:solidFill>
              </a:rPr>
              <a:t>NullPointerException</a:t>
            </a:r>
            <a:r>
              <a:rPr sz="1200" b="0">
                <a:solidFill>
                  <a:schemeClr val="tx2"/>
                </a:solidFill>
              </a:rPr>
              <a:t>/PROPN while/SCONJ going/VERB …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chemeClr val="accent1"/>
                </a:solidFill>
                <a:latin typeface="Courier New"/>
              </a:rPr>
              <a:t>CODE_LOCATION ← SYMPTOM_OF — SYMPTOM (crash, observed) — CAUSED_BY → EXCEPTION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4 · ИМЕНОВАННЫЕ СУЩНОСТИ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Шесть новых типов сущностей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ent-PRODUCT"/>
          <p:cNvSpPr/>
          <p:nvPr/>
        </p:nvSpPr>
        <p:spPr>
          <a:xfrm>
            <a:off x="822960" y="17373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18745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2286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продукт, сервис, библиотека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26517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Firefox · Apache Spark</a:t>
            </a:r>
          </a:p>
        </p:txBody>
      </p:sp>
      <p:sp>
        <p:nvSpPr>
          <p:cNvPr id="31" name="ent-TECHNOLOGY"/>
          <p:cNvSpPr/>
          <p:nvPr/>
        </p:nvSpPr>
        <p:spPr>
          <a:xfrm>
            <a:off x="4389120" y="17373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18745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2286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протокол, стандарт, формат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26517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OAuth2 · Kerberos · CORS</a:t>
            </a:r>
          </a:p>
        </p:txBody>
      </p:sp>
      <p:sp>
        <p:nvSpPr>
          <p:cNvPr id="36" name="ent-SYMPTOM"/>
          <p:cNvSpPr/>
          <p:nvPr/>
        </p:nvSpPr>
        <p:spPr>
          <a:xfrm>
            <a:off x="7955280" y="17373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SYMPTOM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18745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71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2286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проявление дефекта + полярность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26517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crashes · memory leak</a:t>
            </a:r>
          </a:p>
        </p:txBody>
      </p:sp>
      <p:sp>
        <p:nvSpPr>
          <p:cNvPr id="41" name="ent-FEATURE"/>
          <p:cNvSpPr/>
          <p:nvPr/>
        </p:nvSpPr>
        <p:spPr>
          <a:xfrm>
            <a:off x="822960" y="33375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FEATURE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3474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38862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функция продукта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4251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Address Book · Sync</a:t>
            </a:r>
          </a:p>
        </p:txBody>
      </p:sp>
      <p:sp>
        <p:nvSpPr>
          <p:cNvPr id="46" name="ent-LOCALE"/>
          <p:cNvSpPr/>
          <p:nvPr/>
        </p:nvSpPr>
        <p:spPr>
          <a:xfrm>
            <a:off x="4389120" y="33375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7720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LOCALE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3474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38862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язык или локаль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4251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Russian · pt-PT</a:t>
            </a:r>
          </a:p>
        </p:txBody>
      </p:sp>
      <p:sp>
        <p:nvSpPr>
          <p:cNvPr id="51" name="ent-ISSUE_REF"/>
          <p:cNvSpPr/>
          <p:nvPr/>
        </p:nvSpPr>
        <p:spPr>
          <a:xfrm>
            <a:off x="7955280" y="33375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0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ISSUE_REF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3474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80" y="38862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ссылка на другой тикет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4251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bug 1826149 · SPARK-21551</a:t>
            </a:r>
          </a:p>
        </p:txBody>
      </p:sp>
      <p:sp>
        <p:nvSpPr>
          <p:cNvPr id="56" name="rel-SYMPTOM_OF"/>
          <p:cNvSpPr/>
          <p:nvPr/>
        </p:nvSpPr>
        <p:spPr>
          <a:xfrm>
            <a:off x="822960" y="5120640"/>
            <a:ext cx="3337560" cy="5486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120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chemeClr val="lt2"/>
                </a:solidFill>
                <a:latin typeface="Courier New"/>
              </a:rPr>
              <a:t>SYMPTOM_OF  </a:t>
            </a:r>
            <a:r>
              <a:rPr sz="1300" b="0">
                <a:solidFill>
                  <a:schemeClr val="accent4"/>
                </a:solidFill>
              </a:rPr>
              <a:t>симптом → объект</a:t>
            </a:r>
          </a:p>
        </p:txBody>
      </p:sp>
      <p:sp>
        <p:nvSpPr>
          <p:cNvPr id="58" name="rel-CAUSED_BY"/>
          <p:cNvSpPr/>
          <p:nvPr/>
        </p:nvSpPr>
        <p:spPr>
          <a:xfrm>
            <a:off x="4389120" y="5120640"/>
            <a:ext cx="3337560" cy="5486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17720" y="5120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chemeClr val="lt2"/>
                </a:solidFill>
                <a:latin typeface="Courier New"/>
              </a:rPr>
              <a:t>CAUSED_BY  </a:t>
            </a:r>
            <a:r>
              <a:rPr sz="1300" b="0">
                <a:solidFill>
                  <a:schemeClr val="accent4"/>
                </a:solidFill>
              </a:rPr>
              <a:t>симптом → причина</a:t>
            </a:r>
          </a:p>
        </p:txBody>
      </p:sp>
      <p:sp>
        <p:nvSpPr>
          <p:cNvPr id="60" name="rel-VERSION_OF"/>
          <p:cNvSpPr/>
          <p:nvPr/>
        </p:nvSpPr>
        <p:spPr>
          <a:xfrm>
            <a:off x="7955280" y="5120640"/>
            <a:ext cx="3337560" cy="5486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83880" y="5120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chemeClr val="lt2"/>
                </a:solidFill>
                <a:latin typeface="Courier New"/>
              </a:rPr>
              <a:t>VERSION_OF  </a:t>
            </a:r>
            <a:r>
              <a:rPr sz="1300" b="0">
                <a:solidFill>
                  <a:schemeClr val="accent4"/>
                </a:solidFill>
              </a:rPr>
              <a:t>версия → продукт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580644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</a:rPr>
              <a:t>Шаг 4.2: «окружение» разбито на PRODUCT (предмет обсуждения) и ENV (конкретная версия или платформа); число — количество в корпусе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5 · РАЗМЕТКА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Разметка в INCEpTION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frame-performance"/>
          <p:cNvSpPr/>
          <p:nvPr/>
        </p:nvSpPr>
        <p:spPr>
          <a:xfrm>
            <a:off x="813816" y="1728216"/>
            <a:ext cx="5687568" cy="3374136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mg-performance" descr="lr3_inception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669280" cy="3355848"/>
          </a:xfrm>
          <a:prstGeom prst="rect">
            <a:avLst/>
          </a:prstGeom>
        </p:spPr>
      </p:pic>
      <p:sp>
        <p:nvSpPr>
          <p:cNvPr id="28" name="frame-crash"/>
          <p:cNvSpPr/>
          <p:nvPr/>
        </p:nvSpPr>
        <p:spPr>
          <a:xfrm>
            <a:off x="6803136" y="1728216"/>
            <a:ext cx="4572000" cy="2990088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mg-crash" descr="lr3_inception_cr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737360"/>
            <a:ext cx="4553712" cy="2971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52578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tx1"/>
                </a:solidFill>
              </a:rPr>
              <a:t>performance: </a:t>
            </a:r>
            <a:r>
              <a:rPr sz="1200" b="0">
                <a:solidFill>
                  <a:schemeClr val="tx2"/>
                </a:solidFill>
              </a:rPr>
              <a:t>Quick filter ← SYMPTOM_OF — much slower — CAUSED_BY → Supernova; ENV из User-Agent с source=user_agent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89204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tx1"/>
                </a:solidFill>
              </a:rPr>
              <a:t>crash: </a:t>
            </a:r>
            <a:r>
              <a:rPr sz="1200" b="0">
                <a:solidFill>
                  <a:schemeClr val="tx2"/>
                </a:solidFill>
              </a:rPr>
              <a:t>CODE_LOCATION, SYMPTOM, EXCEPTION и связи в заголовке; ключ конфигурации — CODE_LOCATION.kind = config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6 · АНАЛИЗ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Раздел абзаца предсказывает тип сущности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frame-ent-by-section"/>
          <p:cNvSpPr/>
          <p:nvPr/>
        </p:nvSpPr>
        <p:spPr>
          <a:xfrm>
            <a:off x="813816" y="1682496"/>
            <a:ext cx="5138928" cy="4178808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mg-ent-by-section" descr="lr3_entities_by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120640" cy="4160520"/>
          </a:xfrm>
          <a:prstGeom prst="rect">
            <a:avLst/>
          </a:prstGeom>
        </p:spPr>
      </p:pic>
      <p:sp>
        <p:nvSpPr>
          <p:cNvPr id="28" name="finding-0"/>
          <p:cNvSpPr/>
          <p:nvPr/>
        </p:nvSpPr>
        <p:spPr>
          <a:xfrm>
            <a:off x="6263640" y="1737360"/>
            <a:ext cx="5102352" cy="896112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84708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>ENV — 42 из 67 в ENVIRONMENT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1945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окружение надёжно извлекается из раздела, а не из всего текста</a:t>
            </a:r>
          </a:p>
        </p:txBody>
      </p:sp>
      <p:sp>
        <p:nvSpPr>
          <p:cNvPr id="31" name="finding-1"/>
          <p:cNvSpPr/>
          <p:nvPr/>
        </p:nvSpPr>
        <p:spPr>
          <a:xfrm>
            <a:off x="6263640" y="2761488"/>
            <a:ext cx="5102352" cy="896112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871216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>UI_ELEMENT — в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21868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шаги описывают действия с элементами интерфейса</a:t>
            </a:r>
          </a:p>
        </p:txBody>
      </p:sp>
      <p:sp>
        <p:nvSpPr>
          <p:cNvPr id="34" name="finding-2"/>
          <p:cNvSpPr/>
          <p:nvPr/>
        </p:nvSpPr>
        <p:spPr>
          <a:xfrm>
            <a:off x="6263640" y="3785616"/>
            <a:ext cx="5102352" cy="896112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89534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>SYMPTOM — в TITLE и ACTUAL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42816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заголовок и фактический результат — главный источник признаков категории</a:t>
            </a:r>
          </a:p>
        </p:txBody>
      </p:sp>
      <p:sp>
        <p:nvSpPr>
          <p:cNvPr id="37" name="finding-3"/>
          <p:cNvSpPr/>
          <p:nvPr/>
        </p:nvSpPr>
        <p:spPr>
          <a:xfrm>
            <a:off x="6263640" y="4809744"/>
            <a:ext cx="5102352" cy="896112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91947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>CODE: 0 сущностей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266944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правило: внутри кода и цитат размечаем только исключения и тексты ошибок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6 · АНАЛИЗ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Другие уровни исправляют части речи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pos-stat-0"/>
          <p:cNvSpPr/>
          <p:nvPr/>
        </p:nvSpPr>
        <p:spPr>
          <a:xfrm>
            <a:off x="822960" y="1737360"/>
            <a:ext cx="2514600" cy="155448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19202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chemeClr val="tx1"/>
                </a:solidFill>
              </a:rPr>
              <a:t>88,9 %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6517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точность UPOS теггера NLTK</a:t>
            </a:r>
          </a:p>
        </p:txBody>
      </p:sp>
      <p:sp>
        <p:nvSpPr>
          <p:cNvPr id="29" name="pos-stat-1"/>
          <p:cNvSpPr/>
          <p:nvPr/>
        </p:nvSpPr>
        <p:spPr>
          <a:xfrm>
            <a:off x="3520440" y="1737360"/>
            <a:ext cx="2514600" cy="15544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19202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chemeClr val="accent2"/>
                </a:solidFill>
              </a:rPr>
              <a:t>97,7 %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26517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accent4"/>
                </a:solidFill>
              </a:rPr>
              <a:t>с межуровневыми правилами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474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</a:rPr>
              <a:t>Эталон — документ memory, 396 токенов проверены вручную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0" y="1737360"/>
          <a:ext cx="4965190" cy="2743200"/>
        </p:xfrm>
        <a:graphic>
          <a:graphicData uri="http://schemas.openxmlformats.org/drawingml/2006/table">
            <a:tbl>
              <a:tblPr/>
              <a:tblGrid>
                <a:gridCol w="2012915"/>
                <a:gridCol w="2281304"/>
                <a:gridCol w="670971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2"/>
                          </a:solidFill>
                        </a:rPr>
                        <a:t>Ошибка теггера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2"/>
                          </a:solidFill>
                        </a:rPr>
                        <a:t>Что помогает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2"/>
                          </a:solidFill>
                        </a:rPr>
                        <a:t>Ур.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</a:rPr>
                        <a:t>Open, Check, Set → PROPN/ADJ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первое слово пункта STEPS — VERB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2 →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</a:rPr>
                        <a:t>Firefox crashes → NOUN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однословный SYMPTOM после подлежащего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4 →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</a:rPr>
                        <a:t>Windows → SYM, Russian → VERB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токен внутри ENV/LOCALE — PROPN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4 →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</a:rPr>
                        <a:t>LdapGroupsMapping → VBG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CODE_LOCATION / EXCEPTION — PROPN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4 →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</a:rPr>
                        <a:t>not, be, to → по Penn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правила UD: PART, AUX, ADP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822960" y="411480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>Вывод: </a:t>
            </a:r>
            <a:r>
              <a:rPr sz="1500" b="0">
                <a:solidFill>
                  <a:schemeClr val="tx2"/>
                </a:solidFill>
              </a:rPr>
              <a:t>уровни разметки не независимы. Раздел абзаца и тип сущности — признаки для частеречной разметки технического текста. Правила изменили 7,2 % тегов корпуса.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6 · АНАЛИЗ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Где нужна ручная работа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graphicFrame>
        <p:nvGraphicFramePr>
          <p:cNvPr id="26" name="chart-preannotation"/>
          <p:cNvGraphicFramePr>
            <a:graphicFrameLocks noGrp="1"/>
          </p:cNvGraphicFramePr>
          <p:nvPr/>
        </p:nvGraphicFramePr>
        <p:xfrm>
          <a:off x="822960" y="1600200"/>
          <a:ext cx="57607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949440" y="1783080"/>
            <a:ext cx="43891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Предразметка: P = 0,96, R = 0,81, F1 = 0,88. </a:t>
            </a:r>
            <a:r>
              <a:rPr sz="1500" b="0">
                <a:solidFill>
                  <a:schemeClr val="tx2"/>
                </a:solidFill>
              </a:rPr>
              <a:t>Правила почти не ошибаются, но многое пропускают.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Словари и шаблоны хватает </a:t>
            </a:r>
            <a:r>
              <a:rPr sz="1500" b="0">
                <a:solidFill>
                  <a:schemeClr val="tx2"/>
                </a:solidFill>
              </a:rPr>
              <a:t>для кодов ошибок, метрик, версий и продуктов.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Вручную </a:t>
            </a:r>
            <a:r>
              <a:rPr sz="1500" b="0">
                <a:solidFill>
                  <a:schemeClr val="tx2"/>
                </a:solidFill>
              </a:rPr>
              <a:t>добавлены тексты ошибок, элементы интерфейса и все FEATURE: новую сущность правила ещё не знают.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249 правок: </a:t>
            </a:r>
            <a:r>
              <a:rPr sz="1500" b="0">
                <a:solidFill>
                  <a:schemeClr val="tx2"/>
                </a:solidFill>
              </a:rPr>
              <a:t>78 добавлений, 78 изменений атрибутов, 58 связей, 13 удалений, 7 разделов, 9 POS.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6.2 · ОБНОВЛЕНИЕ СХЕМЫ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Что нашли — что изменили в схеме 1.1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1691640"/>
          <a:ext cx="10543031" cy="3657600"/>
        </p:xfrm>
        <a:graphic>
          <a:graphicData uri="http://schemas.openxmlformats.org/drawingml/2006/table">
            <a:tbl>
              <a:tblPr/>
              <a:tblGrid>
                <a:gridCol w="5684069"/>
                <a:gridCol w="4858962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Найдено при анализе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Изменение схемы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«Firefox does not freeze» в EXPECTED размечен как зависание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SYMPTOM.polarity: observed / negated / hypothetical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в отчётах Thunderbird User-Agent — это браузер автора, а не окружение продукта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ENV.source = text / user_agent; affected = unknown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для локализации нет сущности языка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LOCALE (код BCP 47, ссылка DBpedia)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авторы называют причину: memory leak → freezing, messageBody.css → not rendered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связь CAUSED_BY; SYMPTOM_OF, VERSION_OF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коды ошибок и продукты встречаются внутри текста сообщения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вложение сущностей только внутри ERROR_MESSAGE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ключи конфигурации — частая причина дефекта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CODE_LOCATION.kind = config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теггер ошибается на шагах, симптомах и идентификаторах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правила text_markup.rules для POS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22960" y="562356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</a:rPr>
              <a:t>Схема 1.1 обратно совместима: эталоны ЛР2 проходят проверку; конфигурации Label Studio перегенерированы из schema.json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7 · ИТОГ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Текстовая модальность размечена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final-stat-0"/>
          <p:cNvSpPr txBox="1"/>
          <p:nvPr/>
        </p:nvSpPr>
        <p:spPr>
          <a:xfrm>
            <a:off x="822960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407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788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сущностей</a:t>
            </a:r>
          </a:p>
        </p:txBody>
      </p:sp>
      <p:sp>
        <p:nvSpPr>
          <p:cNvPr id="28" name="final-stat-1"/>
          <p:cNvSpPr txBox="1"/>
          <p:nvPr/>
        </p:nvSpPr>
        <p:spPr>
          <a:xfrm>
            <a:off x="3474720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788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связей</a:t>
            </a:r>
          </a:p>
        </p:txBody>
      </p:sp>
      <p:sp>
        <p:nvSpPr>
          <p:cNvPr id="30" name="final-stat-2"/>
          <p:cNvSpPr txBox="1"/>
          <p:nvPr/>
        </p:nvSpPr>
        <p:spPr>
          <a:xfrm>
            <a:off x="6126480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788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ошибок проверки по схеме</a:t>
            </a:r>
          </a:p>
        </p:txBody>
      </p:sp>
      <p:sp>
        <p:nvSpPr>
          <p:cNvPr id="32" name="final-stat-3"/>
          <p:cNvSpPr txBox="1"/>
          <p:nvPr/>
        </p:nvSpPr>
        <p:spPr>
          <a:xfrm>
            <a:off x="8778239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100 %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39" y="2788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совпадение после INCEpTION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703320"/>
            <a:ext cx="1054303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chemeClr val="accent2"/>
                </a:solidFill>
                <a:latin typeface="Courier New"/>
              </a:rPr>
              <a:t>annotations/text/markup/</a:t>
            </a:r>
            <a:r>
              <a:rPr sz="1400" b="0">
                <a:solidFill>
                  <a:schemeClr val="accent4"/>
                </a:solidFill>
                <a:latin typeface="Courier New"/>
              </a:rPr>
              <a:t>  json · tsv (TSV 3.3) · conllu · inception (проект, XMI)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chemeClr val="accent2"/>
                </a:solidFill>
                <a:latin typeface="Courier New"/>
              </a:rPr>
              <a:t>annotation_schema/</a:t>
            </a:r>
            <a:r>
              <a:rPr sz="1400" b="0">
                <a:solidFill>
                  <a:schemeClr val="accent4"/>
                </a:solidFill>
                <a:latin typeface="Courier New"/>
              </a:rPr>
              <a:t>  schema.json v1.1 · label_studio/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chemeClr val="accent2"/>
                </a:solidFill>
                <a:latin typeface="Courier New"/>
              </a:rPr>
              <a:t>docs/</a:t>
            </a:r>
            <a:r>
              <a:rPr sz="1400" b="0">
                <a:solidFill>
                  <a:schemeClr val="accent4"/>
                </a:solidFill>
                <a:latin typeface="Courier New"/>
              </a:rPr>
              <a:t>  text_markup_analysis.md · annotation_schema.md §8 · img/lr3_*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chemeClr val="accent2"/>
                </a:solidFill>
                <a:latin typeface="Courier New"/>
              </a:rPr>
              <a:t>scripts/text_markup.py</a:t>
            </a:r>
            <a:r>
              <a:rPr sz="1400" b="0">
                <a:solidFill>
                  <a:schemeClr val="accent4"/>
                </a:solidFill>
                <a:latin typeface="Courier New"/>
              </a:rPr>
              <a:t>  corpus · auto · final · export · inception · analyze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ЛАБОРАТОРНАЯ РАБОТА №5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Разметка изображений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22960" y="201168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chemeClr val="accent4"/>
                </a:solidFill>
              </a:rPr>
              <a:t>Разметка 30 скриншотов дефектов в Label Studio: классы и признаки изображения → области с атрибутами и связями → дословный текст области и сущности в нём. Предразметка Tesseract OCR и правилами, проверка, экспорт в пять форматов, схема 1.2</a:t>
            </a:r>
          </a:p>
        </p:txBody>
      </p:sp>
      <p:sp>
        <p:nvSpPr>
          <p:cNvPr id="27" name="stat-0"/>
          <p:cNvSpPr txBox="1"/>
          <p:nvPr/>
        </p:nvSpPr>
        <p:spPr>
          <a:xfrm>
            <a:off x="822960" y="3566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скриншотов — по 3 на объект</a:t>
            </a:r>
          </a:p>
        </p:txBody>
      </p:sp>
      <p:sp>
        <p:nvSpPr>
          <p:cNvPr id="29" name="stat-1"/>
          <p:cNvSpPr txBox="1"/>
          <p:nvPr/>
        </p:nvSpPr>
        <p:spPr>
          <a:xfrm>
            <a:off x="3474720" y="3566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131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областей (рамок)</a:t>
            </a:r>
          </a:p>
        </p:txBody>
      </p:sp>
      <p:sp>
        <p:nvSpPr>
          <p:cNvPr id="31" name="stat-2"/>
          <p:cNvSpPr txBox="1"/>
          <p:nvPr/>
        </p:nvSpPr>
        <p:spPr>
          <a:xfrm>
            <a:off x="6126480" y="3566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сущностей в тексте областей</a:t>
            </a:r>
          </a:p>
        </p:txBody>
      </p:sp>
      <p:sp>
        <p:nvSpPr>
          <p:cNvPr id="33" name="stat-3"/>
          <p:cNvSpPr txBox="1"/>
          <p:nvPr/>
        </p:nvSpPr>
        <p:spPr>
          <a:xfrm>
            <a:off x="8778239" y="3566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39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связей между областями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  <a:latin typeface="Courier New"/>
              </a:rPr>
              <a:t>Шаги 1–8 ЛР5 · bug-triage-dataset · схема v1.2 · Label Studio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ШАГИ 1–6 · ПРОЦЕСС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Полуавтоматическая разметка в Label Studio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step-01"/>
          <p:cNvSpPr/>
          <p:nvPr/>
        </p:nvSpPr>
        <p:spPr>
          <a:xfrm>
            <a:off x="822960" y="178308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331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Данные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images.xml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30 PNG, 10 категорий; проект из schema.json</a:t>
            </a:r>
          </a:p>
        </p:txBody>
      </p:sp>
      <p:sp>
        <p:nvSpPr>
          <p:cNvPr id="31" name="step-02"/>
          <p:cNvSpPr/>
          <p:nvPr/>
        </p:nvSpPr>
        <p:spPr>
          <a:xfrm>
            <a:off x="4389120" y="178308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2331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Предразметка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auto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0175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Tesseract OCR (rus+eng) + правила</a:t>
            </a:r>
          </a:p>
        </p:txBody>
      </p:sp>
      <p:sp>
        <p:nvSpPr>
          <p:cNvPr id="36" name="step-03"/>
          <p:cNvSpPr/>
          <p:nvPr/>
        </p:nvSpPr>
        <p:spPr>
          <a:xfrm>
            <a:off x="7955280" y="178308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331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Ручная разметка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manual.json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0175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131 рамка вплотную к содержимому</a:t>
            </a:r>
          </a:p>
        </p:txBody>
      </p:sp>
      <p:sp>
        <p:nvSpPr>
          <p:cNvPr id="41" name="step-04"/>
          <p:cNvSpPr/>
          <p:nvPr/>
        </p:nvSpPr>
        <p:spPr>
          <a:xfrm>
            <a:off x="822960" y="388620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4114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2"/>
                </a:solidFill>
                <a:latin typeface="Courier New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434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lt2"/>
                </a:solidFill>
              </a:rPr>
              <a:t>Label Studio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4846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2"/>
                </a:solidFill>
                <a:latin typeface="Courier New"/>
              </a:rPr>
              <a:t>lsf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1206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accent4"/>
                </a:solidFill>
              </a:rPr>
              <a:t>редактор разметки; выгрузка = разметка, 30/30</a:t>
            </a:r>
          </a:p>
        </p:txBody>
      </p:sp>
      <p:sp>
        <p:nvSpPr>
          <p:cNvPr id="46" name="step-05"/>
          <p:cNvSpPr/>
          <p:nvPr/>
        </p:nvSpPr>
        <p:spPr>
          <a:xfrm>
            <a:off x="4389120" y="388620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4114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4434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Проверка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4846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validate · overlay · agree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51206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схема, просмотр, разметка вслепую</a:t>
            </a:r>
          </a:p>
        </p:txBody>
      </p:sp>
      <p:sp>
        <p:nvSpPr>
          <p:cNvPr id="51" name="step-06"/>
          <p:cNvSpPr/>
          <p:nvPr/>
        </p:nvSpPr>
        <p:spPr>
          <a:xfrm>
            <a:off x="7955280" y="388620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0" y="4114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Экспорт и анализ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846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export · analyze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1206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COCO, LS, VOC, YOLO, CSV; схема 1.2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94360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  <a:latin typeface="Courier New"/>
              </a:rPr>
              <a:t>python scripts/image_markup.py &lt;команда&gt; — весь конвейер воспроизводится из репозитория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2 · КЛАССЫ И ПРИЗНАКИ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Семь классов областей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ent-PRODUCT"/>
          <p:cNvSpPr/>
          <p:nvPr/>
        </p:nvSpPr>
        <p:spPr>
          <a:xfrm>
            <a:off x="822960" y="17373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ERROR_TEXT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18745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2286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сообщение об ошибке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26517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TypeError: 'NoneType'…</a:t>
            </a:r>
          </a:p>
        </p:txBody>
      </p:sp>
      <p:sp>
        <p:nvSpPr>
          <p:cNvPr id="31" name="ent-TECHNOLOGY"/>
          <p:cNvSpPr/>
          <p:nvPr/>
        </p:nvSpPr>
        <p:spPr>
          <a:xfrm>
            <a:off x="4389120" y="17373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DEFECT_AREA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18745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2286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место дефекта + defect_type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26517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mojibake · overflow · NaN</a:t>
            </a:r>
          </a:p>
        </p:txBody>
      </p:sp>
      <p:sp>
        <p:nvSpPr>
          <p:cNvPr id="36" name="ent-SYMPTOM"/>
          <p:cNvSpPr/>
          <p:nvPr/>
        </p:nvSpPr>
        <p:spPr>
          <a:xfrm>
            <a:off x="7955280" y="17373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PII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18745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2286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данные к маскированию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26517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host · card · address</a:t>
            </a:r>
          </a:p>
        </p:txBody>
      </p:sp>
      <p:sp>
        <p:nvSpPr>
          <p:cNvPr id="41" name="ent-FEATURE"/>
          <p:cNvSpPr/>
          <p:nvPr/>
        </p:nvSpPr>
        <p:spPr>
          <a:xfrm>
            <a:off x="822960" y="33375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STATUS_INDICATOR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3474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38862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код или статус + kind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4251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500 · ERR_* · exit code</a:t>
            </a:r>
          </a:p>
        </p:txBody>
      </p:sp>
      <p:sp>
        <p:nvSpPr>
          <p:cNvPr id="46" name="ent-LOCALE"/>
          <p:cNvSpPr/>
          <p:nvPr/>
        </p:nvSpPr>
        <p:spPr>
          <a:xfrm>
            <a:off x="4389120" y="33375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7720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UI_ELEMENT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3474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38862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элемент интерфейса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4251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кнопка «Оплатить»</a:t>
            </a:r>
          </a:p>
        </p:txBody>
      </p:sp>
      <p:sp>
        <p:nvSpPr>
          <p:cNvPr id="51" name="ent-ISSUE_REF"/>
          <p:cNvSpPr/>
          <p:nvPr/>
        </p:nvSpPr>
        <p:spPr>
          <a:xfrm>
            <a:off x="7955280" y="33375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0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CHART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3474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80" y="38862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новая: график метрики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4251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рост JS-кучи · SLA</a:t>
            </a:r>
          </a:p>
        </p:txBody>
      </p:sp>
      <p:sp>
        <p:nvSpPr>
          <p:cNvPr id="56" name="rel-SYMPTOM_OF"/>
          <p:cNvSpPr/>
          <p:nvPr/>
        </p:nvSpPr>
        <p:spPr>
          <a:xfrm>
            <a:off x="822960" y="5120640"/>
            <a:ext cx="3337560" cy="5486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120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chemeClr val="lt2"/>
                </a:solidFill>
                <a:latin typeface="Courier New"/>
              </a:rPr>
              <a:t>AFFECTS  дефект → элемент</a:t>
            </a:r>
          </a:p>
        </p:txBody>
      </p:sp>
      <p:sp>
        <p:nvSpPr>
          <p:cNvPr id="58" name="rel-CAUSED_BY"/>
          <p:cNvSpPr/>
          <p:nvPr/>
        </p:nvSpPr>
        <p:spPr>
          <a:xfrm>
            <a:off x="4389120" y="5120640"/>
            <a:ext cx="3337560" cy="5486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17720" y="5120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chemeClr val="lt2"/>
                </a:solidFill>
                <a:latin typeface="Courier New"/>
              </a:rPr>
              <a:t>EXPLAINS  код/текст → область</a:t>
            </a:r>
          </a:p>
        </p:txBody>
      </p:sp>
      <p:sp>
        <p:nvSpPr>
          <p:cNvPr id="60" name="rel-VERSION_OF"/>
          <p:cNvSpPr/>
          <p:nvPr/>
        </p:nvSpPr>
        <p:spPr>
          <a:xfrm>
            <a:off x="7955280" y="5120640"/>
            <a:ext cx="3337560" cy="5486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83880" y="5120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chemeClr val="lt2"/>
                </a:solidFill>
                <a:latin typeface="Courier New"/>
              </a:rPr>
              <a:t>CAUSED_BY  дефект → причина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580644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</a:rPr>
              <a:t>Шаг 2.2 — признаки изображения: is_defect, severity, device (desktop/mobile), theme (light/dark); ещё 9 областей STACK_TRACE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3 · ПРЕДРАЗМЕТКА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OCR видит текст, но не интерфейс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949440" y="1783080"/>
            <a:ext cx="43891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Классы экрана: </a:t>
            </a:r>
            <a:r>
              <a:rPr sz="1500" b="0">
                <a:solidFill>
                  <a:schemeClr val="tx2"/>
                </a:solidFill>
              </a:rPr>
              <a:t>тип экрана, устройство и тема — 100 %, категория — 29 из 30, компонент — 24 из 30.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Текст находит хорошо: </a:t>
            </a:r>
            <a:r>
              <a:rPr sz="1500" b="0">
                <a:solidFill>
                  <a:schemeClr val="tx2"/>
                </a:solidFill>
              </a:rPr>
              <a:t>PII — точность 1,0, статусы — 0,88; совпавшие рамки — IoU 0,88, ошибок OCR 2,5 %.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Визуальное — не видит: </a:t>
            </a:r>
            <a:r>
              <a:rPr sz="1500" b="0">
                <a:solidFill>
                  <a:schemeClr val="tx2"/>
                </a:solidFill>
              </a:rPr>
              <a:t>элементы интерфейса, графики, перекрытия; их разметчик рисует сам.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Итог: </a:t>
            </a:r>
            <a:r>
              <a:rPr sz="1500" b="0">
                <a:solidFill>
                  <a:schemeClr val="tx2"/>
                </a:solidFill>
              </a:rPr>
              <a:t>точность 0,69, полнота 0,32, F1 0,44 (IoU ≥ 0,5); 15 из 80 сущностей.</a:t>
            </a:r>
          </a:p>
        </p:txBody>
      </p:sp>
      <p:graphicFrame>
        <p:nvGraphicFramePr>
          <p:cNvPr id="28" name="chart-preannotation"/>
          <p:cNvGraphicFramePr>
            <a:graphicFrameLocks noGrp="1"/>
          </p:cNvGraphicFramePr>
          <p:nvPr/>
        </p:nvGraphicFramePr>
        <p:xfrm>
          <a:off x="822960" y="1600200"/>
          <a:ext cx="57607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ШАГИ 1, 4 · LABEL STUDIO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Разметка в Label Studio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frame-performance"/>
          <p:cNvSpPr/>
          <p:nvPr/>
        </p:nvSpPr>
        <p:spPr>
          <a:xfrm>
            <a:off x="813816" y="1728216"/>
            <a:ext cx="5687568" cy="3374136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mg-performance" descr="lr3_inception_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737360"/>
            <a:ext cx="5669280" cy="3355848"/>
          </a:xfrm>
          <a:prstGeom prst="rect">
            <a:avLst/>
          </a:prstGeom>
        </p:spPr>
      </p:pic>
      <p:sp>
        <p:nvSpPr>
          <p:cNvPr id="28" name="frame-crash"/>
          <p:cNvSpPr/>
          <p:nvPr/>
        </p:nvSpPr>
        <p:spPr>
          <a:xfrm>
            <a:off x="6803136" y="1728216"/>
            <a:ext cx="4572000" cy="2990088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mg-crash" descr="lr3_inception_cr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737360"/>
            <a:ext cx="4553712" cy="2971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52578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tx1"/>
                </a:solidFill>
              </a:rPr>
              <a:t>payment_03: DEFECT_AREA duplicate с текстом области; связи EXPLAINS и CAUSED_BY; классы изображения внизу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89204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tx1"/>
                </a:solidFill>
              </a:rPr>
              <a:t>localization_03: шесть DEFECT_AREA wrong_format / untranslated, expected_text — «17.10.2026». Выгрузка из редактора совпала с разметкой в 30 из 30 задач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4 · РАЗМЕТКА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Логические дефекты и персональные данные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frame-performance"/>
          <p:cNvSpPr/>
          <p:nvPr/>
        </p:nvSpPr>
        <p:spPr>
          <a:xfrm>
            <a:off x="813816" y="1728216"/>
            <a:ext cx="5687568" cy="3374136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mg-performance" descr="lr3_inception_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737360"/>
            <a:ext cx="5669280" cy="3355848"/>
          </a:xfrm>
          <a:prstGeom prst="rect">
            <a:avLst/>
          </a:prstGeom>
        </p:spPr>
      </p:pic>
      <p:sp>
        <p:nvSpPr>
          <p:cNvPr id="28" name="frame-crash"/>
          <p:cNvSpPr/>
          <p:nvPr/>
        </p:nvSpPr>
        <p:spPr>
          <a:xfrm>
            <a:off x="6803136" y="1728216"/>
            <a:ext cx="4572000" cy="2990088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mg-crash" descr="lr3_inception_cr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737360"/>
            <a:ext cx="4553712" cy="2971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52578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tx1"/>
                </a:solidFill>
              </a:rPr>
              <a:t>payment_02: wrong_value 5.00 ₽ и NaN ₽, expected_text = 6 495,00 ₽; компонент Frontend — суммы считает JavaScript страницы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89204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tx1"/>
                </a:solidFill>
              </a:rPr>
              <a:t>security_02 (IDOR): data_exposure — чужой счёт; PII organization, email, card, address — только значение без ключа JSON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5 · ПРОВЕРКА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Как проверялась разметка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1691640"/>
          <a:ext cx="10543031" cy="3657600"/>
        </p:xfrm>
        <a:graphic>
          <a:graphicData uri="http://schemas.openxmlformats.org/drawingml/2006/table">
            <a:tbl>
              <a:tblPr/>
              <a:tblGrid>
                <a:gridCol w="5684069"/>
                <a:gridCol w="4858962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Проверка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Результат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validate: словари меток и атрибутов, рамки, смещения сущностей, связи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0 ошибок: 30 изображений, 131 область, 29 связей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overlay: все области поверх каждого изображения, просмотр 30 из 30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исправлены 2 рамки (подписи полей, PII в строке JSON)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lsf: задача → редактор Label Studio → выгрузка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30 из 30 задач без потерь (589 результатов)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agree: database_01, payment_03 размечены вслепую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классы 6/6, метки 9/9, тексты 9/9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рамки вслепую против эталона ЛР2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F1 0,44 при IoU ≥ 0,7 → 0,89 при «IoU ≥ 0,7 или ±5 px»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разбор расхождений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эталон рисовался с отступом 3–5 px; DEFECT_AREA — без заголовка таблицы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взаимная проверка (шаг 5.2)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план: 6 скриншотов (20 %) вторым разметчиком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22960" y="562356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</a:rPr>
              <a:t>Тонкая строка текста высотой 11–13 px с отступом 4 px даёт IoU 0,55, хотя обе рамки в допуске 5 px — правило совпадения рамок изменено в схеме 1.2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7 · ОБНОВЛЕНИЕ СХЕМЫ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Что нашли — что изменили в схеме 1.2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1691640"/>
          <a:ext cx="10543031" cy="3657600"/>
        </p:xfrm>
        <a:graphic>
          <a:graphicData uri="http://schemas.openxmlformats.org/drawingml/2006/table">
            <a:tbl>
              <a:tblPr/>
              <a:tblGrid>
                <a:gridCol w="5684069"/>
                <a:gridCol w="4858962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Найдено при анализе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Изменение схемы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3 экрана с ошибкой — ожидаемое поведение (неверный пароль, отказ банка)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признак is_defect; severity = null для них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компонент ≠ компонент категории в 6 из 30 (расчёт в JS → Frontend)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правило «компонент по месту дефекта» — и для изображений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утечка памяти и время ответа видны только на графике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область CHART: chart_kind, trend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XSS, IDOR, превышение SLA без своего типа дефекта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defect_type: injected_content, data_exposure, threshold_exceeded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для mojibake, ключей и форматов нужен правильный вариант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DEFECT_AREA.expected_text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код объясняет текст ошибки (12 из 29 связей)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связи AFFECTS, EXPLAINS, CAUSED_BY; STATUS_INDICATOR.kind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адрес и организация клиента в ответе API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PII.kind: address, organization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22960" y="562356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</a:rPr>
              <a:t>Ещё: правило совпадения рамок «IoU ≥ 0,7 или стороны ±5 px». Схема 1.2 обратно совместима: эталоны ЛР2 и разметка ЛР3 проходят проверку; images.xml перегенерирован из schema.json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8 · ИТОГ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Изображения размечены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final-stat-0"/>
          <p:cNvSpPr txBox="1"/>
          <p:nvPr/>
        </p:nvSpPr>
        <p:spPr>
          <a:xfrm>
            <a:off x="822960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131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788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областей на 30 скриншотах</a:t>
            </a:r>
          </a:p>
        </p:txBody>
      </p:sp>
      <p:sp>
        <p:nvSpPr>
          <p:cNvPr id="28" name="final-stat-1"/>
          <p:cNvSpPr txBox="1"/>
          <p:nvPr/>
        </p:nvSpPr>
        <p:spPr>
          <a:xfrm>
            <a:off x="3474720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788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связей между областями</a:t>
            </a:r>
          </a:p>
        </p:txBody>
      </p:sp>
      <p:sp>
        <p:nvSpPr>
          <p:cNvPr id="30" name="final-stat-2"/>
          <p:cNvSpPr txBox="1"/>
          <p:nvPr/>
        </p:nvSpPr>
        <p:spPr>
          <a:xfrm>
            <a:off x="6126480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788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ошибок проверки по схеме</a:t>
            </a:r>
          </a:p>
        </p:txBody>
      </p:sp>
      <p:sp>
        <p:nvSpPr>
          <p:cNvPr id="32" name="final-stat-3"/>
          <p:cNvSpPr txBox="1"/>
          <p:nvPr/>
        </p:nvSpPr>
        <p:spPr>
          <a:xfrm>
            <a:off x="8778239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30/30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39" y="2788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задач без потерь в Label Studio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703320"/>
            <a:ext cx="1054303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chemeClr val="accent2"/>
                </a:solidFill>
                <a:latin typeface="Courier New"/>
              </a:rPr>
              <a:t>annotations/images/</a:t>
            </a:r>
            <a:r>
              <a:rPr sz="1400" b="0">
                <a:solidFill>
                  <a:schemeClr val="accent4"/>
                </a:solidFill>
                <a:latin typeface="Courier New"/>
              </a:rPr>
              <a:t>  screenshots_coco.json · markup/ (manual, auto, labelstudio, voc, yolo, regions.csv)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chemeClr val="accent2"/>
                </a:solidFill>
                <a:latin typeface="Courier New"/>
              </a:rPr>
              <a:t>annotation_schema/</a:t>
            </a:r>
            <a:r>
              <a:rPr sz="1400" b="0">
                <a:solidFill>
                  <a:schemeClr val="accent4"/>
                </a:solidFill>
                <a:latin typeface="Courier New"/>
              </a:rPr>
              <a:t>  schema.json v1.2 · label_studio/images.xml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chemeClr val="accent2"/>
                </a:solidFill>
                <a:latin typeface="Courier New"/>
              </a:rPr>
              <a:t>docs/</a:t>
            </a:r>
            <a:r>
              <a:rPr sz="1400" b="0">
                <a:solidFill>
                  <a:schemeClr val="accent4"/>
                </a:solidFill>
                <a:latin typeface="Courier New"/>
              </a:rPr>
              <a:t>  image_markup_analysis.md · annotation_schema.md §9 · img/lr5_*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chemeClr val="accent2"/>
                </a:solidFill>
                <a:latin typeface="Courier New"/>
              </a:rPr>
              <a:t>scripts/image_markup.py</a:t>
            </a:r>
            <a:r>
              <a:rPr sz="1400" b="0">
                <a:solidFill>
                  <a:schemeClr val="accent4"/>
                </a:solidFill>
                <a:latin typeface="Courier New"/>
              </a:rPr>
              <a:t>  auto · final · export · lsf · agree · analyze · ls-import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g Triage">
  <a:themeElements>
    <a:clrScheme name="Bug Triage">
      <a:dk1>
        <a:srgbClr val="172033"/>
      </a:dk1>
      <a:lt1>
        <a:srgbClr val="F6F5F1"/>
      </a:lt1>
      <a:dk2>
        <a:srgbClr val="4A5163"/>
      </a:dk2>
      <a:lt2>
        <a:srgbClr val="FFFFFF"/>
      </a:lt2>
      <a:accent1>
        <a:srgbClr val="B5541A"/>
      </a:accent1>
      <a:accent2>
        <a:srgbClr val="F08A4B"/>
      </a:accent2>
      <a:accent3>
        <a:srgbClr val="E1DED4"/>
      </a:accent3>
      <a:accent4>
        <a:srgbClr val="B9C2D3"/>
      </a:accent4>
      <a:accent5>
        <a:srgbClr val="FAF9F5"/>
      </a:accent5>
      <a:accent6>
        <a:srgbClr val="6E7486"/>
      </a:accent6>
      <a:hlink>
        <a:srgbClr val="3D6FD9"/>
      </a:hlink>
      <a:folHlink>
        <a:srgbClr val="6A4FB0"/>
      </a:folHlink>
    </a:clrScheme>
    <a:fontScheme name="Bug Triag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Аннотационная схема для баг-репортов (ЛР2)</dc:title>
  <dc:subject>PptxGenJS Presentation</dc:subject>
  <dc:creator>lebowskiybig</dc:creator>
  <cp:lastModifiedBy>lebowskiybig</cp:lastModifiedBy>
  <cp:revision>1</cp:revision>
  <dcterms:created xsi:type="dcterms:W3CDTF">2026-10-17T15:11:46Z</dcterms:created>
  <dcterms:modified xsi:type="dcterms:W3CDTF">2026-10-17T15:11:46Z</dcterms:modified>
</cp:coreProperties>
</file>