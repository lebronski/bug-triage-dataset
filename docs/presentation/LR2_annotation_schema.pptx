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Задача и процесс" id="{6af6f9cd-7908-d917-4ba9-0dc18e51cba2}">
          <p14:sldIdLst>
            <p14:sldId id="256"/>
            <p14:sldId id="257"/>
            <p14:sldId id="258"/>
          </p14:sldIdLst>
        </p14:section>
        <p14:section name="Состав схемы" id="{34fc87e5-0106-56ce-ed06-bcf2d10fb947}">
          <p14:sldIdLst>
            <p14:sldId id="259"/>
            <p14:sldId id="260"/>
            <p14:sldId id="261"/>
          </p14:sldIdLst>
        </p14:section>
        <p14:section name="Уровни и форматы" id="{90ea16d2-a446-5ba7-5def-896b051f3e02}">
          <p14:sldIdLst>
            <p14:sldId id="262"/>
            <p14:sldId id="263"/>
            <p14:sldId id="264"/>
          </p14:sldIdLst>
        </p14:section>
        <p14:section name="Верификация и итог" id="{6689bd82-7dd7-8cd0-ec95-faa6f3292292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Проект — набор данных для системы, которая по входящему баг-репорту определяет категорию дефекта, компонент, критичность и команду. В ЛР1 собраны данные, в ЛР2 спроектирована схема их разметки.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источника — три модальности: текст (репорты и логи), изображения, аудио. Схема должна описывать их одним словарём меток.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Шаги соответствуют шагам 1–7 лабораторной. Дополнительно сделан эталонный набор, на котором проверены сама схема и скрипт проверки.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Семь групп объектов: классы обращения, структура, технические сущности, окружение, интерфейс, метрики, персональные данные. В таблице окружение, интерфейс и метрики объединены в столбец «Сущности».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Критичность — самый субъективный признак, поэтому критерии записаны явно, а порог согласованности для неё ниже: каппа 0,6 против 0,8 у категории. severity ставится только для ticket_type =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сущностей есть атрибуты: kind (подтип), normalized (каноническая запись), affected у окружения — чтобы различать затронутые и незатронутые платформы.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Уровень 1 нужен для классификатора уже сейчас, уровни 2–3 — для извлечения сущностей. Размечать можно по очереди, от общего к частному. Таблица построена по образцу таблицы 8.2.1 пособия.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Форматы из пособия: CoNLL-U для текста, COCO/CVAT для изображений, TextGrid для аудио. Для репортов основной формат — JSON со смещениями, совместимый с Label Studio, потому что в нём помещаются все три уровня; CoNLL-U генерируется из него.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Всего эталонов 10: 5 баг-репортов, 1 лог, 2 скриншота, 2 аудиозаписи. Каждый показывает трудный случай: ошибочную предразметку, смену компонента, низкую уверенность, нормализацию произнесённых сущностей.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метрики считает скрипт annotation_tools.py agree, проверку по схеме — annotation_tools.py validate. Скрипт проверен на намеренно испорченных аннотациях: нашёл все 11 внесённых ошибок.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обновлён: структура, описание схемы, форматы, верификация. Дальше — разметка всех данных по этой схеме в ЛР3 (текст), ЛР4 (аудио) и ЛР5 (изображения).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011680"/>
            <a:ext cx="10543032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ЛАБОРАТОРНАЯ РАБОТА №2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011680"/>
            <a:ext cx="10543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Аннотационная схема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для баг-репортов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0233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Единые правила разметки текста, логов, скриншотов и голосовых обращений для системы автоматической сортировки дефектов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06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bug-triage-dataset · схема v1.0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766560" y="5806440"/>
            <a:ext cx="4599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Структурирование, разметка и обогащение данных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ЗАДАЧА И ДАННЫЕ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Что нужно разметить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92024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tx2"/>
                </a:solidFill>
              </a:rPr>
              <a:t>Система ИИ по входящему обращению определяет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категорию дефекта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tx2"/>
                </a:solidFill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компонент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tx2"/>
                </a:solidFill>
              </a:rPr>
              <a:t> (Backend, Frontend, Auth-service, Billing, Database),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критичность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tx2"/>
                </a:solidFill>
              </a:rPr>
              <a:t> и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команду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tx2"/>
                </a:solidFill>
              </a:rPr>
              <a:t>, а также извлекает исключение, место в коде и окружение. Данные собраны в ЛР1 по 10 категориям дефектов.</a:t>
            </a:r>
            <a:endParaRPr lang="en-US" sz="1700" dirty="0"/>
          </a:p>
        </p:txBody>
      </p:sp>
      <p:sp>
        <p:nvSpPr>
          <p:cNvPr id="6" name="stat-100"/>
          <p:cNvSpPr/>
          <p:nvPr/>
        </p:nvSpPr>
        <p:spPr>
          <a:xfrm>
            <a:off x="822960" y="3291840"/>
            <a:ext cx="2464308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520440"/>
            <a:ext cx="19156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100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4434840"/>
            <a:ext cx="19156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баг-репортов из Jira, Bugzilla, GitHub</a:t>
            </a:r>
            <a:endParaRPr lang="en-US" sz="1500" dirty="0"/>
          </a:p>
        </p:txBody>
      </p:sp>
      <p:sp>
        <p:nvSpPr>
          <p:cNvPr id="9" name="stat-12"/>
          <p:cNvSpPr/>
          <p:nvPr/>
        </p:nvSpPr>
        <p:spPr>
          <a:xfrm>
            <a:off x="3515868" y="3291840"/>
            <a:ext cx="2464308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90188" y="3520440"/>
            <a:ext cx="19156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12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3790188" y="4434840"/>
            <a:ext cx="19156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фрагментов системных логов LogHub</a:t>
            </a:r>
            <a:endParaRPr lang="en-US" sz="1500" dirty="0"/>
          </a:p>
        </p:txBody>
      </p:sp>
      <p:sp>
        <p:nvSpPr>
          <p:cNvPr id="12" name="stat-30"/>
          <p:cNvSpPr/>
          <p:nvPr/>
        </p:nvSpPr>
        <p:spPr>
          <a:xfrm>
            <a:off x="6208776" y="3291840"/>
            <a:ext cx="2464308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83096" y="3520440"/>
            <a:ext cx="19156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30</a:t>
            </a:r>
            <a:endParaRPr lang="en-US" sz="4800" dirty="0"/>
          </a:p>
        </p:txBody>
      </p:sp>
      <p:sp>
        <p:nvSpPr>
          <p:cNvPr id="14" name="Text 11"/>
          <p:cNvSpPr txBox="1"/>
          <p:nvPr/>
        </p:nvSpPr>
        <p:spPr>
          <a:xfrm>
            <a:off x="6483096" y="4434840"/>
            <a:ext cx="19156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скриншотов воспроизведённых дефектов</a:t>
            </a:r>
            <a:endParaRPr lang="en-US" sz="1500" dirty="0"/>
          </a:p>
        </p:txBody>
      </p:sp>
      <p:sp>
        <p:nvSpPr>
          <p:cNvPr id="15" name="stat-20"/>
          <p:cNvSpPr/>
          <p:nvPr/>
        </p:nvSpPr>
        <p:spPr>
          <a:xfrm>
            <a:off x="8901684" y="3291840"/>
            <a:ext cx="2464308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76004" y="3520440"/>
            <a:ext cx="19156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20</a:t>
            </a:r>
            <a:endParaRPr lang="en-US" sz="4800" dirty="0"/>
          </a:p>
        </p:txBody>
      </p:sp>
      <p:sp>
        <p:nvSpPr>
          <p:cNvPr id="17" name="Text 14"/>
          <p:cNvSpPr txBox="1"/>
          <p:nvPr/>
        </p:nvSpPr>
        <p:spPr>
          <a:xfrm>
            <a:off x="9176004" y="4434840"/>
            <a:ext cx="19156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голосовых обращений в поддержку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ПРОЦЕСС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Как проектировалась схема</a:t>
            </a:r>
            <a:endParaRPr lang="en-US" sz="3200" dirty="0"/>
          </a:p>
        </p:txBody>
      </p:sp>
      <p:sp>
        <p:nvSpPr>
          <p:cNvPr id="5" name="step-1"/>
          <p:cNvSpPr/>
          <p:nvPr/>
        </p:nvSpPr>
        <p:spPr>
          <a:xfrm>
            <a:off x="822960" y="1965960"/>
            <a:ext cx="2464308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51560" y="2167128"/>
            <a:ext cx="2007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2532888"/>
            <a:ext cx="200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Состав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2944368"/>
            <a:ext cx="200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модальности и семь групп объектов</a:t>
            </a:r>
            <a:endParaRPr lang="en-US" sz="1400" dirty="0"/>
          </a:p>
        </p:txBody>
      </p:sp>
      <p:sp>
        <p:nvSpPr>
          <p:cNvPr id="9" name="step-2"/>
          <p:cNvSpPr/>
          <p:nvPr/>
        </p:nvSpPr>
        <p:spPr>
          <a:xfrm>
            <a:off x="3515868" y="1965960"/>
            <a:ext cx="2464308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44468" y="2167128"/>
            <a:ext cx="2007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44468" y="2532888"/>
            <a:ext cx="200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Требования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744468" y="2944368"/>
            <a:ext cx="200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какие сущности и атрибуты размечать</a:t>
            </a:r>
            <a:endParaRPr lang="en-US" sz="1400" dirty="0"/>
          </a:p>
        </p:txBody>
      </p:sp>
      <p:sp>
        <p:nvSpPr>
          <p:cNvPr id="13" name="step-3"/>
          <p:cNvSpPr/>
          <p:nvPr/>
        </p:nvSpPr>
        <p:spPr>
          <a:xfrm>
            <a:off x="6208776" y="1965960"/>
            <a:ext cx="2464308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37376" y="2167128"/>
            <a:ext cx="2007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437376" y="2532888"/>
            <a:ext cx="200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Правила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437376" y="2944368"/>
            <a:ext cx="200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форматы, границы, длины, критерии</a:t>
            </a:r>
            <a:endParaRPr lang="en-US" sz="1400" dirty="0"/>
          </a:p>
        </p:txBody>
      </p:sp>
      <p:sp>
        <p:nvSpPr>
          <p:cNvPr id="17" name="step-4"/>
          <p:cNvSpPr/>
          <p:nvPr/>
        </p:nvSpPr>
        <p:spPr>
          <a:xfrm>
            <a:off x="8901684" y="1965960"/>
            <a:ext cx="2464308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30284" y="2167128"/>
            <a:ext cx="2007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30284" y="2532888"/>
            <a:ext cx="200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Уровни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9130284" y="2944368"/>
            <a:ext cx="200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три уровня детализации на модальность</a:t>
            </a:r>
            <a:endParaRPr lang="en-US" sz="1400" dirty="0"/>
          </a:p>
        </p:txBody>
      </p:sp>
      <p:sp>
        <p:nvSpPr>
          <p:cNvPr id="21" name="step-5"/>
          <p:cNvSpPr/>
          <p:nvPr/>
        </p:nvSpPr>
        <p:spPr>
          <a:xfrm>
            <a:off x="822960" y="3977640"/>
            <a:ext cx="2464308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51560" y="4178808"/>
            <a:ext cx="2007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4544568"/>
            <a:ext cx="200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Форматы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051560" y="4956048"/>
            <a:ext cx="200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JSON, CoNLL-U, COCO, TextGrid</a:t>
            </a:r>
            <a:endParaRPr lang="en-US" sz="1400" dirty="0"/>
          </a:p>
        </p:txBody>
      </p:sp>
      <p:sp>
        <p:nvSpPr>
          <p:cNvPr id="25" name="step-6"/>
          <p:cNvSpPr/>
          <p:nvPr/>
        </p:nvSpPr>
        <p:spPr>
          <a:xfrm>
            <a:off x="3515868" y="3977640"/>
            <a:ext cx="2464308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744468" y="4178808"/>
            <a:ext cx="2007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744468" y="4544568"/>
            <a:ext cx="200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Верификация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3744468" y="4956048"/>
            <a:ext cx="200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метрики, пороги, перекрёстная разметка</a:t>
            </a:r>
            <a:endParaRPr lang="en-US" sz="1400" dirty="0"/>
          </a:p>
        </p:txBody>
      </p:sp>
      <p:sp>
        <p:nvSpPr>
          <p:cNvPr id="29" name="step-7"/>
          <p:cNvSpPr/>
          <p:nvPr/>
        </p:nvSpPr>
        <p:spPr>
          <a:xfrm>
            <a:off x="6208776" y="3977640"/>
            <a:ext cx="2464308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37376" y="4178808"/>
            <a:ext cx="2007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37376" y="4544568"/>
            <a:ext cx="200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Репозиторий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6437376" y="4956048"/>
            <a:ext cx="200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schema.json, annotations/, README</a:t>
            </a:r>
            <a:endParaRPr lang="en-US" sz="1400" dirty="0"/>
          </a:p>
        </p:txBody>
      </p:sp>
      <p:sp>
        <p:nvSpPr>
          <p:cNvPr id="33" name="step-8"/>
          <p:cNvSpPr/>
          <p:nvPr/>
        </p:nvSpPr>
        <p:spPr>
          <a:xfrm>
            <a:off x="8901684" y="3977640"/>
            <a:ext cx="2464308" cy="1783080"/>
          </a:xfrm>
          <a:prstGeom prst="roundRect">
            <a:avLst>
              <a:gd name="adj" fmla="val 5128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130284" y="4178808"/>
            <a:ext cx="2007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9130284" y="4544568"/>
            <a:ext cx="200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Эталоны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9130284" y="4956048"/>
            <a:ext cx="200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10 размеченных примеров, автопроверка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1 · СОСТАВ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Группы объектов по модальностям</a:t>
            </a:r>
            <a:endParaRPr lang="en-US" sz="3200" dirty="0"/>
          </a:p>
        </p:txBody>
      </p:sp>
      <p:graphicFrame>
        <p:nvGraphicFramePr>
          <p:cNvPr id="5" name="composi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1054303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514600"/>
                <a:gridCol w="2423160"/>
                <a:gridCol w="2788920"/>
                <a:gridCol w="13990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Модальность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Классы обращения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Структура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Сущности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Баг-репорт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ticket_type, category, component, severity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разделов; шаг, кадр стека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EXCEPTION, ERROR_MESSAGE, CODE_LOCATION, ERROR_CODE, ENV, UI_ELEMENT, 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имена, логины, 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category,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строка = событие: level, event_type, is_anomaly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 же метки внутри строки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ip, host, username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Скриншот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category, component, screen_type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области: ERROR_TEXT, STACK_TRACE, STATUS_INDICATOR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DEFECT_AREA, UI_ELEMENT; сущности в тексте области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область PII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Аудио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category, component, severity, urgency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сегменты GREETING … CLOSING + транскрипция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сущности в транскрипции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имя звонящего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22960" y="525780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Один словарь меток на все модальности: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EXCEPTION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 из трассировки, со скриншота и из звонка — одна и та же сущность с общим полем normalized.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2 · КЛАССЫ ОБРАЩЕНИЯ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Критичность — по явным критериям</a:t>
            </a:r>
            <a:endParaRPr lang="en-US" sz="3200" dirty="0"/>
          </a:p>
        </p:txBody>
      </p:sp>
      <p:graphicFrame>
        <p:nvGraphicFramePr>
          <p:cNvPr id="6" name="severit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1054303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486400"/>
                <a:gridCol w="34107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Когда ставить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Пример из данных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ключевой сценарий недоступен без обхода; потеря данных или денег; эксплуатируемая уязвимость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двойное списание при оплате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падение сервиса или функции, ошибка 5xx, обход сложен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«сервер отчётов падает с ошибкой пятьсот»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функция работает неверно, но обход есть; деградация производительности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импорт платёжных данных не работает на macOS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косметика, перевод, вёрстка без блокировки, редкий случай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утечка памяти в редком сценарии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22960" y="507492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Ещё три класса: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ticket_type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 (bug, feature_request, question, not_a_bug),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category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 (10 + other),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component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. Команда вычисляется из компонента. Компонент — по месту дефекта, а не по категории.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2 · СУЩНОСТИ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Восемь типов сущностей и три связи</a:t>
            </a:r>
            <a:endParaRPr lang="en-US" sz="3200" dirty="0"/>
          </a:p>
        </p:txBody>
      </p:sp>
      <p:sp>
        <p:nvSpPr>
          <p:cNvPr id="5" name="entity-EXCEPTION"/>
          <p:cNvSpPr/>
          <p:nvPr/>
        </p:nvSpPr>
        <p:spPr>
          <a:xfrm>
            <a:off x="822960" y="1874520"/>
            <a:ext cx="249859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24128" y="2039112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24128" y="2377440"/>
            <a:ext cx="20962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тип исключения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2761488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NullPointerException</a:t>
            </a:r>
            <a:endParaRPr lang="en-US" sz="1300" dirty="0"/>
          </a:p>
        </p:txBody>
      </p:sp>
      <p:sp>
        <p:nvSpPr>
          <p:cNvPr id="9" name="entity-ERROR_MESSAGE"/>
          <p:cNvSpPr/>
          <p:nvPr/>
        </p:nvSpPr>
        <p:spPr>
          <a:xfrm>
            <a:off x="3504438" y="1874520"/>
            <a:ext cx="249859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05606" y="2039112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ERROR_MESSAGE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05606" y="2377440"/>
            <a:ext cx="20962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текст ошибки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705606" y="2761488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 is locked</a:t>
            </a:r>
            <a:endParaRPr lang="en-US" sz="1300" dirty="0"/>
          </a:p>
        </p:txBody>
      </p:sp>
      <p:sp>
        <p:nvSpPr>
          <p:cNvPr id="13" name="entity-CODE_LOCATION"/>
          <p:cNvSpPr/>
          <p:nvPr/>
        </p:nvSpPr>
        <p:spPr>
          <a:xfrm>
            <a:off x="6185916" y="1874520"/>
            <a:ext cx="249859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87084" y="2039112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CODE_LOCATION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387084" y="2377440"/>
            <a:ext cx="20962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класс, метод, файл, кадр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387084" y="2761488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JdbcUtils.scala:452</a:t>
            </a:r>
            <a:endParaRPr lang="en-US" sz="1300" dirty="0"/>
          </a:p>
        </p:txBody>
      </p:sp>
      <p:sp>
        <p:nvSpPr>
          <p:cNvPr id="17" name="entity-ERROR_CODE"/>
          <p:cNvSpPr/>
          <p:nvPr/>
        </p:nvSpPr>
        <p:spPr>
          <a:xfrm>
            <a:off x="8867394" y="1874520"/>
            <a:ext cx="249859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68562" y="2039112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ERROR_CODE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068562" y="2377440"/>
            <a:ext cx="20962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HTTP, сеть, CVE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068562" y="2761488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· ERR_CERT_*</a:t>
            </a:r>
            <a:endParaRPr lang="en-US" sz="1300" dirty="0"/>
          </a:p>
        </p:txBody>
      </p:sp>
      <p:sp>
        <p:nvSpPr>
          <p:cNvPr id="21" name="entity-ENV"/>
          <p:cNvSpPr/>
          <p:nvPr/>
        </p:nvSpPr>
        <p:spPr>
          <a:xfrm>
            <a:off x="822960" y="3383280"/>
            <a:ext cx="249859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4128" y="3547872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3886200"/>
            <a:ext cx="20962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ОС, браузер, версия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024128" y="4270248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macOS 12 · yes</a:t>
            </a:r>
            <a:endParaRPr lang="en-US" sz="1300" dirty="0"/>
          </a:p>
        </p:txBody>
      </p:sp>
      <p:sp>
        <p:nvSpPr>
          <p:cNvPr id="25" name="entity-UI_ELEMENT"/>
          <p:cNvSpPr/>
          <p:nvPr/>
        </p:nvSpPr>
        <p:spPr>
          <a:xfrm>
            <a:off x="3504438" y="3383280"/>
            <a:ext cx="249859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705606" y="3547872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UI_ELEMENT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705606" y="3886200"/>
            <a:ext cx="20962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кнопка, поле, диалог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705606" y="4270248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"Archive" button</a:t>
            </a:r>
            <a:endParaRPr lang="en-US" sz="1300" dirty="0"/>
          </a:p>
        </p:txBody>
      </p:sp>
      <p:sp>
        <p:nvSpPr>
          <p:cNvPr id="29" name="entity-METRIC"/>
          <p:cNvSpPr/>
          <p:nvPr/>
        </p:nvSpPr>
        <p:spPr>
          <a:xfrm>
            <a:off x="6185916" y="3383280"/>
            <a:ext cx="249859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387084" y="3547872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387084" y="3886200"/>
            <a:ext cx="20962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время, память, количество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387084" y="4270248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 MB · 8 s</a:t>
            </a:r>
            <a:endParaRPr lang="en-US" sz="1300" dirty="0"/>
          </a:p>
        </p:txBody>
      </p:sp>
      <p:sp>
        <p:nvSpPr>
          <p:cNvPr id="33" name="entity-PII"/>
          <p:cNvSpPr/>
          <p:nvPr/>
        </p:nvSpPr>
        <p:spPr>
          <a:xfrm>
            <a:off x="8867394" y="3383280"/>
            <a:ext cx="249859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068562" y="3547872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PII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9068562" y="3886200"/>
            <a:ext cx="20962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 маскированию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9068562" y="4270248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173.234.31.186</a:t>
            </a:r>
            <a:endParaRPr lang="en-US" sz="1300" dirty="0"/>
          </a:p>
        </p:txBody>
      </p:sp>
      <p:sp>
        <p:nvSpPr>
          <p:cNvPr id="37" name="relation-HAS_MESSAGE"/>
          <p:cNvSpPr/>
          <p:nvPr/>
        </p:nvSpPr>
        <p:spPr>
          <a:xfrm>
            <a:off x="822960" y="4983480"/>
            <a:ext cx="3392424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51560" y="498348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HAS_MESSAGE  </a:t>
            </a:r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исключение → текст</a:t>
            </a:r>
            <a:endParaRPr lang="en-US" sz="1500" dirty="0"/>
          </a:p>
        </p:txBody>
      </p:sp>
      <p:sp>
        <p:nvSpPr>
          <p:cNvPr id="39" name="relation-THROWN_AT"/>
          <p:cNvSpPr/>
          <p:nvPr/>
        </p:nvSpPr>
        <p:spPr>
          <a:xfrm>
            <a:off x="4398264" y="4983480"/>
            <a:ext cx="3392424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626864" y="498348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THROWN_AT  </a:t>
            </a:r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исключение → место</a:t>
            </a:r>
            <a:endParaRPr lang="en-US" sz="1500" dirty="0"/>
          </a:p>
        </p:txBody>
      </p:sp>
      <p:sp>
        <p:nvSpPr>
          <p:cNvPr id="41" name="relation-OBSERVED_IN"/>
          <p:cNvSpPr/>
          <p:nvPr/>
        </p:nvSpPr>
        <p:spPr>
          <a:xfrm>
            <a:off x="7973568" y="4983480"/>
            <a:ext cx="3392424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02168" y="498348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OBSERVED_IN  </a:t>
            </a:r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проблема → среда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4 · УРОВНИ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Три уровня детализации</a:t>
            </a:r>
            <a:endParaRPr lang="en-US" sz="3200" dirty="0"/>
          </a:p>
        </p:txBody>
      </p:sp>
      <p:graphicFrame>
        <p:nvGraphicFramePr>
          <p:cNvPr id="8" name="level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1054303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24912"/>
                <a:gridCol w="2724912"/>
                <a:gridCol w="27157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Модальность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Структура документа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тикет: классы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раздел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шаг, кадр стека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Текст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сущность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атрибуты сущности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связи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файл лога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событие (строка)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сущности в строке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Изображения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класс экрана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область (bbox)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текст и сущности области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Аудио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классы записи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сегмент речи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сущность в транскрипции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22960" y="516636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crash_02.wav: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crash · Critical → сегмент ERROR_DETAILS 8,04–12,08 с → «нулл пойнтер эксепшн» = NullPointerException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ШАГИ 3, 5 · ФОРМАТЫ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Формат для каждой модальности</a:t>
            </a:r>
            <a:endParaRPr lang="en-US" sz="3200" dirty="0"/>
          </a:p>
        </p:txBody>
      </p:sp>
      <p:graphicFrame>
        <p:nvGraphicFramePr>
          <p:cNvPr id="9" name="format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1054303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108960"/>
                <a:gridCol w="55138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Модальность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Формат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Координаты и правила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Баг-репорт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+ CoNLL-U (BIO)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смещения символов; разделы покрывают весь текст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Lines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одна запись на строку лога, смещения в строке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Скриншот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COCO JSON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bbox [x, y, w, h] в px, допуск 5 px, сторона ≥ 8 px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Аудио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Praat TextGrid + JSON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секунды; интервалы встык; сегмент ≥ 0,3 с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6" name="schema-card"/>
          <p:cNvSpPr/>
          <p:nvPr/>
        </p:nvSpPr>
        <p:spPr>
          <a:xfrm>
            <a:off x="822960" y="4572000"/>
            <a:ext cx="10543032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143000" y="45720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schema.json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3291840" y="4572000"/>
            <a:ext cx="7799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единственный источник меток: из него генерируются 4 конфигурации Label Studio и задачи с предразметкой, по нему проверяется каждая аннотация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ПРИМЕР · ЭТАЛОННАЯ РАЗМЕТКА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Скриншоты: области и текст в них</a:t>
            </a:r>
            <a:endParaRPr lang="en-US" sz="3200" dirty="0"/>
          </a:p>
        </p:txBody>
      </p:sp>
      <p:sp>
        <p:nvSpPr>
          <p:cNvPr id="5" name="frame-database_01"/>
          <p:cNvSpPr/>
          <p:nvPr/>
        </p:nvSpPr>
        <p:spPr>
          <a:xfrm>
            <a:off x="813816" y="1865376"/>
            <a:ext cx="5152644" cy="32272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pic>
        <p:nvPicPr>
          <p:cNvPr id="6" name="img-database_01" descr="Скриншот ошибки 500 с размеченными областям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5134356" cy="32089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5220653"/>
            <a:ext cx="51343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database_01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· error_page: ERROR_TEXT → EXCEPTION sqlite3.OperationalError, STATUS_INDICATOR → ERROR_CODE 500</a:t>
            </a:r>
            <a:endParaRPr lang="en-US" sz="1400" dirty="0"/>
          </a:p>
        </p:txBody>
      </p:sp>
      <p:sp>
        <p:nvSpPr>
          <p:cNvPr id="8" name="frame-payment_03"/>
          <p:cNvSpPr/>
          <p:nvPr/>
        </p:nvSpPr>
        <p:spPr>
          <a:xfrm>
            <a:off x="6222492" y="1865376"/>
            <a:ext cx="5152644" cy="32272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pic>
        <p:nvPicPr>
          <p:cNvPr id="9" name="img-payment_03" descr="Скриншот двойного списания с размеченными областям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636" y="1874520"/>
            <a:ext cx="5134356" cy="32089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231636" y="5220653"/>
            <a:ext cx="51343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payment_03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· ui_screen: DEFECT_AREA (duplicate), UI_ELEMENT кнопка, PII карта •••• 4242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6 · ВЕРИФИКАЦИЯ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Качество — в числах и порогах</a:t>
            </a:r>
            <a:endParaRPr lang="en-US" sz="3200" dirty="0"/>
          </a:p>
        </p:txBody>
      </p:sp>
      <p:sp>
        <p:nvSpPr>
          <p:cNvPr id="5" name="metric-1"/>
          <p:cNvSpPr/>
          <p:nvPr/>
        </p:nvSpPr>
        <p:spPr>
          <a:xfrm>
            <a:off x="822960" y="1874520"/>
            <a:ext cx="2464308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51560" y="2011680"/>
            <a:ext cx="2007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κ ≥ 0,8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2606040"/>
            <a:ext cx="20071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каппа Коэна для категории; 0,6 для критичности</a:t>
            </a:r>
            <a:endParaRPr lang="en-US" sz="1300" dirty="0"/>
          </a:p>
        </p:txBody>
      </p:sp>
      <p:sp>
        <p:nvSpPr>
          <p:cNvPr id="8" name="metric-2"/>
          <p:cNvSpPr/>
          <p:nvPr/>
        </p:nvSpPr>
        <p:spPr>
          <a:xfrm>
            <a:off x="3515868" y="1874520"/>
            <a:ext cx="2464308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44468" y="2011680"/>
            <a:ext cx="2007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F1 ≥ 0,8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3744468" y="2606040"/>
            <a:ext cx="20071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сущности: точное совпадение метки и границ</a:t>
            </a:r>
            <a:endParaRPr lang="en-US" sz="1300" dirty="0"/>
          </a:p>
        </p:txBody>
      </p:sp>
      <p:sp>
        <p:nvSpPr>
          <p:cNvPr id="11" name="metric-3"/>
          <p:cNvSpPr/>
          <p:nvPr/>
        </p:nvSpPr>
        <p:spPr>
          <a:xfrm>
            <a:off x="6208776" y="1874520"/>
            <a:ext cx="2464308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37376" y="2011680"/>
            <a:ext cx="2007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IoU ≥ 0,7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6437376" y="2606040"/>
            <a:ext cx="20071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рамки на изображениях; F1 областей ≥ 0,85</a:t>
            </a:r>
            <a:endParaRPr lang="en-US" sz="1300" dirty="0"/>
          </a:p>
        </p:txBody>
      </p:sp>
      <p:sp>
        <p:nvSpPr>
          <p:cNvPr id="14" name="metric-4"/>
          <p:cNvSpPr/>
          <p:nvPr/>
        </p:nvSpPr>
        <p:spPr>
          <a:xfrm>
            <a:off x="8901684" y="1874520"/>
            <a:ext cx="2464308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30284" y="2011680"/>
            <a:ext cx="2007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WER ≤ 10 %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9130284" y="2606040"/>
            <a:ext cx="20071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расшифровка против эталона; границы ±0,1 с</a:t>
            </a:r>
            <a:endParaRPr lang="en-US" sz="1300" dirty="0"/>
          </a:p>
        </p:txBody>
      </p:sp>
      <p:graphicFrame>
        <p:nvGraphicFramePr>
          <p:cNvPr id="11" name="verifica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520440"/>
          <a:ext cx="1054303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75255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Обучение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инструкция + эталоны; допуск при F1 ≥ 0,8 на эталонах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Перекрёстная разметка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20 % данных и все confidence=low — два разметчика, арбитр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Проверка ошибок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при каждом изменении; вручную каждый 5-й файл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Итерации и журнал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пилот → уточнение правил → новая версия схемы; VERIFICATION.md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7 · ИТОГ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Схема готова к разметке в ЛР 3–5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122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сущности в эталонах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384048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384048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ошибок проверки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4</a:t>
            </a:r>
            <a:endParaRPr lang="en-US" sz="6000" dirty="0"/>
          </a:p>
        </p:txBody>
      </p:sp>
      <p:sp>
        <p:nvSpPr>
          <p:cNvPr id="10" name="Text 7"/>
          <p:cNvSpPr txBox="1"/>
          <p:nvPr/>
        </p:nvSpPr>
        <p:spPr>
          <a:xfrm>
            <a:off x="685800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конфигурации Label Studio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703320"/>
            <a:ext cx="105430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annotation_schema/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schema.json, label_studio/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annotations/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text/, images/, audio/, VERIFICATION.md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annotation_schema.md, annotation_validation_report.md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annotation_tools.py — configs · tasks · validate · conllu · agree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g Triage">
  <a:themeElements>
    <a:clrScheme name="Bug Triage">
      <a:dk1>
        <a:srgbClr val="172033"/>
      </a:dk1>
      <a:lt1>
        <a:srgbClr val="F6F5F1"/>
      </a:lt1>
      <a:dk2>
        <a:srgbClr val="4A5163"/>
      </a:dk2>
      <a:lt2>
        <a:srgbClr val="FFFFFF"/>
      </a:lt2>
      <a:accent1>
        <a:srgbClr val="B5541A"/>
      </a:accent1>
      <a:accent2>
        <a:srgbClr val="F08A4B"/>
      </a:accent2>
      <a:accent3>
        <a:srgbClr val="E1DED4"/>
      </a:accent3>
      <a:accent4>
        <a:srgbClr val="B9C2D3"/>
      </a:accent4>
      <a:accent5>
        <a:srgbClr val="FAF9F5"/>
      </a:accent5>
      <a:accent6>
        <a:srgbClr val="6E7486"/>
      </a:accent6>
      <a:hlink>
        <a:srgbClr val="3D6FD9"/>
      </a:hlink>
      <a:folHlink>
        <a:srgbClr val="6A4FB0"/>
      </a:folHlink>
    </a:clrScheme>
    <a:fontScheme name="Bug Triag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Аннотационная схема для баг-репортов (ЛР2)</dc:title>
  <dc:subject>PptxGenJS Presentation</dc:subject>
  <dc:creator>lebowskiybig</dc:creator>
  <cp:lastModifiedBy>lebowskiybig</cp:lastModifiedBy>
  <cp:revision>1</cp:revision>
  <dcterms:created xsi:type="dcterms:W3CDTF">2026-10-17T15:11:46Z</dcterms:created>
  <dcterms:modified xsi:type="dcterms:W3CDTF">2026-10-17T15:11:46Z</dcterms:modified>
</cp:coreProperties>
</file>